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595360" y="-1280160"/>
            <a:ext cx="5120640" cy="5120640"/>
          </a:xfrm>
          <a:prstGeom prst="ellipse">
            <a:avLst/>
          </a:prstGeom>
          <a:solidFill>
            <a:srgbClr val="13324B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2468880"/>
            <a:ext cx="3840480" cy="38404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23317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Amala's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Transformative Education Model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Educators Programme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445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961120" y="1097280"/>
            <a:ext cx="4754880" cy="4754880"/>
          </a:xfrm>
          <a:prstGeom prst="ellipse">
            <a:avLst/>
          </a:prstGeom>
          <a:solidFill>
            <a:srgbClr val="1332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intention you'd like to carry with you for the rest of the day?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445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will: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231136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7802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Amala's vision of transformative education and its key definition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191256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017520"/>
            <a:ext cx="7802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foundations that have influenced transformative education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51376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97764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3977640"/>
            <a:ext cx="7802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how people, relationships, and experiences nurture learners' potential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5111496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93776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74720" y="4937760"/>
            <a:ext cx="7802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transformative education principles to your own programme context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4864" cy="36576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94560" y="1600200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Transformative Experiences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97135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4F8FA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50008"/>
            <a:ext cx="54864" cy="365760"/>
          </a:xfrm>
          <a:prstGeom prst="rect">
            <a:avLst/>
          </a:prstGeom>
          <a:solidFill>
            <a:srgbClr val="0E2A4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2585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94560" y="2258568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 of Transformative Education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97135" y="22585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916936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08376"/>
            <a:ext cx="54864" cy="36576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9169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94560" y="2916936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Amala's Transformative Education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97135" y="29169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575304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4F8FA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666744"/>
            <a:ext cx="54864" cy="365760"/>
          </a:xfrm>
          <a:prstGeom prst="rect">
            <a:avLst/>
          </a:prstGeom>
          <a:solidFill>
            <a:srgbClr val="0E2A43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5753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194560" y="3575304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Stories: Principles in Action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97135" y="35753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233672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325112"/>
            <a:ext cx="54864" cy="36576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2336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194560" y="4233672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Amala's Nine Design and Facilitation Principles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97135" y="42336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89204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4F8FA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4983480"/>
            <a:ext cx="54864" cy="365760"/>
          </a:xfrm>
          <a:prstGeom prst="rect">
            <a:avLst/>
          </a:prstGeom>
          <a:solidFill>
            <a:srgbClr val="8A8B3D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892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194560" y="4892040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97135" y="4892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55040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5641848"/>
            <a:ext cx="54864" cy="365760"/>
          </a:xfrm>
          <a:prstGeom prst="rect">
            <a:avLst/>
          </a:prstGeom>
          <a:solidFill>
            <a:srgbClr val="8A8B3D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55504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194560" y="5550408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Reflection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997135" y="5550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" cy="50292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15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8745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Transformative Experiences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Reflecting on what made a personal experience truly transformative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44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Individual Reflection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an experience in your life that felt transformative.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468880"/>
            <a:ext cx="457200" cy="457200"/>
          </a:xfrm>
          <a:prstGeom prst="ellipse">
            <a:avLst/>
          </a:prstGeom>
          <a:solidFill>
            <a:srgbClr val="8A8B3D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295144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267919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experience briefly — what it was, where and when it took place.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794760"/>
            <a:ext cx="457200" cy="457200"/>
          </a:xfrm>
          <a:prstGeom prst="ellipse">
            <a:avLst/>
          </a:prstGeom>
          <a:solidFill>
            <a:srgbClr val="8A8B3D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621024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it transformative?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400507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it about that experience that shifted something in you — your thinking, identity, or sense of possibility?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5120640"/>
            <a:ext cx="457200" cy="457200"/>
          </a:xfrm>
          <a:prstGeom prst="ellipse">
            <a:avLst/>
          </a:prstGeom>
          <a:solidFill>
            <a:srgbClr val="8A8B3D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946904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 for your work?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533095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you about how to design and facilitate transformative learning for the young people you work with?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" cy="50292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10–15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8745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 of Transformative Education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thinkers whose ideas have shaped how we understand transformative learning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44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Theoretical Foundations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394960" cy="50292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Mezirow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Transformative Learning Theory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reflection can shift our fundamental frames of reference — the assumptions through which we interpret our experience.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920240"/>
            <a:ext cx="5394960" cy="502920"/>
          </a:xfrm>
          <a:prstGeom prst="rect">
            <a:avLst/>
          </a:prstGeom>
          <a:solidFill>
            <a:srgbClr val="0E2A4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20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Freire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 of Freedom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291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can develop critical consciousness, empowering learners to understand and actively transform their own realities.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prompt: How do these ideas resonate with your own experience as a learner or educator?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" cy="50292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15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8745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Amala's Transformative Education Model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definition to practice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44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Amala's Core Definition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1ECF0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involves…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strengthening of agency for positive change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and will to positively impact your own life and the world around you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1ECF0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Transformative education is…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of people, relationships and experiences that nurture the potential and power of learners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to significant shifts in their ability and mindset to positively impact their own lives and the world around them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8A8B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325112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people, relationships and experiences might contribute to a transformative education for participants on your programme — and why?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946904"/>
            <a:ext cx="457200" cy="457200"/>
          </a:xfrm>
          <a:prstGeom prst="ellipse">
            <a:avLst/>
          </a:prstGeom>
          <a:solidFill>
            <a:srgbClr val="8A8B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928616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some ways participants can positively impact their own lives and the world around them? How can your programme strengthen their ability to do so?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550408"/>
            <a:ext cx="457200" cy="457200"/>
          </a:xfrm>
          <a:prstGeom prst="ellipse">
            <a:avLst/>
          </a:prstGeom>
          <a:solidFill>
            <a:srgbClr val="8A8B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3212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 of your programme are designed to strengthen learners' ability to positively impact their own lives and communities?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" cy="50292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15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8745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Stories: Principles in Action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student story videos, then extract the principles you notice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44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Video Observation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videos, then use the table below to capture your observations.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E2A43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214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Amala: the Transformative Power of Education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E2A43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1214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2359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Amala's Learning Community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WATCH, NOTE: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DCE8EC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noticed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904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(describe what you saw or heard)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333756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EDE9C9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3904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(which principle does this reflect?)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80960" y="333756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DCE8EC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0956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it raises for my programme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" cy="50292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·  20–25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8745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Amala's Nine Design and Facilitation Principles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principles for designing and facilitating transformative education programmes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44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·  The Nine Principles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design and facilitation…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21408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…draw upon backgrounds, values, knowledge, identities and lived realities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121408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19659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…are shaped through collaboration with learners and community partners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62072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8620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…develop knowledge, skills and mindsets that matter now and in the future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862072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3017520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28620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…enable learners to engage with authentic real-world challenges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75818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913632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37581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…promote responsible, values-driven action (ethics and sustainability)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375818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3913632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37581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…support learners to recognise and communicate positive change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65429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4809744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17320" y="46542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…help learners connect learning to the futures they are building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465429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4809744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46542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…use feedback and data to inform ongoing improvement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5550408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41248" y="5705856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5705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463040" y="5550408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…create emotionally, socially and culturally safe learning spaces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5.1  ·  Unpacking the Principles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7F0F3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the principles CONNECTED to what you already knew?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60520" y="18288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5F3E2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20116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ideas EXTENDED or pushed your thinking in new directions?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8288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7F0F3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09560" y="20116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CHALLENGING? What questions or puzzles do you now have?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this in your workbook.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5.2  ·  Applying the Principles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principle, complete the columns in your workbook.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0E2A4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2F6E7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this contribute to transformative outcomes for your programme?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0" y="1874520"/>
            <a:ext cx="3136392" cy="502920"/>
          </a:xfrm>
          <a:prstGeom prst="roundRect">
            <a:avLst>
              <a:gd name="adj" fmla="val 9091"/>
            </a:avLst>
          </a:prstGeom>
          <a:solidFill>
            <a:srgbClr val="8A8B3D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1874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for putting this into practice…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450592"/>
            <a:ext cx="10911535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532888"/>
            <a:ext cx="256032" cy="256032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24505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…draw upon backgrounds, values, knowledge, identities and lived realities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889504"/>
            <a:ext cx="10911535" cy="420624"/>
          </a:xfrm>
          <a:prstGeom prst="rect">
            <a:avLst/>
          </a:prstGeom>
          <a:solidFill>
            <a:srgbClr val="F0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971800"/>
            <a:ext cx="256032" cy="256032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71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28895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…are shaped through collaboration with learners and community partners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328416"/>
            <a:ext cx="10911535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410712"/>
            <a:ext cx="256032" cy="256032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…develop knowledge, skills and mindsets that matter now and in the future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767328"/>
            <a:ext cx="10911535" cy="420624"/>
          </a:xfrm>
          <a:prstGeom prst="rect">
            <a:avLst/>
          </a:prstGeom>
          <a:solidFill>
            <a:srgbClr val="F0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849624"/>
            <a:ext cx="256032" cy="256032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376732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…enable learners to engage with authentic real-world challenges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206240"/>
            <a:ext cx="10911535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288536"/>
            <a:ext cx="256032" cy="256032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" y="420624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…promote responsible, values-driven action (ethics and sustainability)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4645152"/>
            <a:ext cx="10911535" cy="420624"/>
          </a:xfrm>
          <a:prstGeom prst="rect">
            <a:avLst/>
          </a:prstGeom>
          <a:solidFill>
            <a:srgbClr val="F0F6F8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4727448"/>
            <a:ext cx="256032" cy="256032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" y="464515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…support learners to recognise and communicate positive change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5084064"/>
            <a:ext cx="10911535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166360"/>
            <a:ext cx="256032" cy="256032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166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" y="50840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…help learners connect learning to the futures they are building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5522976"/>
            <a:ext cx="10911535" cy="420624"/>
          </a:xfrm>
          <a:prstGeom prst="rect">
            <a:avLst/>
          </a:prstGeom>
          <a:solidFill>
            <a:srgbClr val="F0F6F8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" y="5605272"/>
            <a:ext cx="256032" cy="256032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5605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" y="55229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…use feedback and data to inform ongoing improvement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" y="5961888"/>
            <a:ext cx="10911535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" y="6044184"/>
            <a:ext cx="256032" cy="256032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6044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" y="59618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…create emotionally, socially and culturally safe learning spaces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" cy="50292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 ·  INDIVIDUAL 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8745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two or three ideas from Part 5 and think through what it takes to put them into practice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44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 ·  Action Planning Template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template for each idea you want to test. A worked example is in your workbook.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idea
</a:t>
            </a:r>
            <a:pPr indent="0" marL="0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 Be specific.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94960" y="2423160"/>
            <a:ext cx="5790895" cy="0"/>
          </a:xfrm>
          <a:prstGeom prst="line">
            <a:avLst/>
          </a:prstGeom>
          <a:noFill/>
          <a:ln w="9525">
            <a:solidFill>
              <a:srgbClr val="BFD2D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267004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0F6F8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6700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principles does it relate to?
</a:t>
            </a:r>
            <a:pPr indent="0" marL="0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94960" y="3081528"/>
            <a:ext cx="5790895" cy="0"/>
          </a:xfrm>
          <a:prstGeom prst="line">
            <a:avLst/>
          </a:prstGeom>
          <a:noFill/>
          <a:ln w="9525">
            <a:solidFill>
              <a:srgbClr val="BFD2D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3328416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3284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to happen?
</a:t>
            </a:r>
            <a:pPr indent="0" marL="0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put the idea into practice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94960" y="3739896"/>
            <a:ext cx="5790895" cy="0"/>
          </a:xfrm>
          <a:prstGeom prst="line">
            <a:avLst/>
          </a:prstGeom>
          <a:noFill/>
          <a:ln w="9525">
            <a:solidFill>
              <a:srgbClr val="BFD2D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0080" y="3986784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0F6F8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9867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know it's succeeding?
</a:t>
            </a:r>
            <a:pPr indent="0" marL="0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signs of success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94960" y="4398264"/>
            <a:ext cx="5790895" cy="0"/>
          </a:xfrm>
          <a:prstGeom prst="line">
            <a:avLst/>
          </a:prstGeom>
          <a:noFill/>
          <a:ln w="9525">
            <a:solidFill>
              <a:srgbClr val="BFD2D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" y="4645152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6451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it's failing?
</a:t>
            </a:r>
            <a:pPr indent="0" marL="0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signs and your response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394960" y="5056632"/>
            <a:ext cx="5790895" cy="0"/>
          </a:xfrm>
          <a:prstGeom prst="line">
            <a:avLst/>
          </a:prstGeom>
          <a:noFill/>
          <a:ln w="9525">
            <a:solidFill>
              <a:srgbClr val="BFD2D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40080" y="530352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0F6F8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5303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will you stop?
</a:t>
            </a:r>
            <a:pPr indent="0" marL="0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and exit steps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94960" y="5715000"/>
            <a:ext cx="5790895" cy="0"/>
          </a:xfrm>
          <a:prstGeom prst="line">
            <a:avLst/>
          </a:prstGeom>
          <a:noFill/>
          <a:ln w="9525">
            <a:solidFill>
              <a:srgbClr val="BFD2D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" cy="502920"/>
          </a:xfrm>
          <a:prstGeom prst="rect">
            <a:avLst/>
          </a:prstGeom>
          <a:solidFill>
            <a:srgbClr val="2F6E7A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 ·  MODULE REFLECTION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8745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Back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time to consolidate your learning from this module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44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 ·  Module Reflection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7F0F3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thing you now understand more deeply about transformative education?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principle feels most important for your context — and why?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7F0F3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30428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do you feel in applying Amala's model to your programme?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concrete step you will take in the next month?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5F3E2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31596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your thinking about your role as facilitator or programme leader shifted?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opportunities do you see for creating transformative outcomes?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7F0F3"/>
          </a:solidFill>
          <a:ln w="6350">
            <a:solidFill>
              <a:srgbClr val="D8E4E8"/>
            </a:solidFill>
            <a:prstDash val="solid"/>
          </a:ln>
          <a:effectLst>
            <a:outerShdw sx="100000" sy="100000" kx="0" ky="0" algn="bl" rotWithShape="0" blurRad="50800" dist="25400" dir="5400000">
              <a:srgbClr val="9FB2BA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Feedback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31596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of this module was most useful for you — and why?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E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help you go deeper on any of these ideas?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9D8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for Change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9326880" y="1097280"/>
            <a:ext cx="5120640" cy="5120640"/>
          </a:xfrm>
          <a:prstGeom prst="ellipse">
            <a:avLst/>
          </a:prstGeom>
          <a:solidFill>
            <a:srgbClr val="1332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KEY TAKEAWAYS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forward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4231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Transformative education is an ecosystem — it is about people, relationships and experiences working together, not any single intervention.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35584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is central. Amala defines transformation as a significant strengthening of learners' ability and will to positively impact their own lives and the world around them.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288536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facilitation matter. The nine principles are not aspirational extras — they are the mechanism through which transformation happens.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66944"/>
            <a:ext cx="457200" cy="457200"/>
          </a:xfrm>
          <a:prstGeom prst="ellipse">
            <a:avLst/>
          </a:prstGeom>
          <a:solidFill>
            <a:srgbClr val="2F6E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5221224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is active. As an educator, you shape the conditions for transformation through intentional choices in design, facilitation and relationships.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2445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Introduction to Amala's Transformative Education Model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94415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2026-08-17T05:55:14Z</dcterms:created>
  <dcterms:modified xsi:type="dcterms:W3CDTF">2026-08-17T05:55:14Z</dcterms:modified>
</cp:coreProperties>
</file>