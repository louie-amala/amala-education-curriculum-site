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module rests on this. Make it land in the first minutes of Session 1, then move on. The Workbook carries the detail; do not turn the session into an English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9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amala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Education for change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Teaching English as a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Language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slides   ·   Developing English across your course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MODULE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one idea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the English learners need for the learning in front of them, </a:t>
            </a:r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inside that learning.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 a separate English course. Not grammar for its own sake. You are not becoming a language teacher.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 HOURS   ·   6 SYNCHRONOUS   ·   6 INDEPENDENT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training arc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650492" cy="2194560"/>
          </a:xfrm>
          <a:prstGeom prst="roundRect">
            <a:avLst>
              <a:gd name="adj" fmla="val 4986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514600"/>
            <a:ext cx="1504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Independent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3063240"/>
            <a:ext cx="150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3840480"/>
            <a:ext cx="1504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~1 hr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91740" y="2286000"/>
            <a:ext cx="1650492" cy="2194560"/>
          </a:xfrm>
          <a:prstGeom prst="roundRect">
            <a:avLst>
              <a:gd name="adj" fmla="val 4986"/>
            </a:avLst>
          </a:prstGeom>
          <a:solidFill>
            <a:srgbClr val="004976"/>
          </a:solidFill>
          <a:ln w="12700">
            <a:solidFill>
              <a:srgbClr val="0049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4892" y="2514600"/>
            <a:ext cx="1504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Synchronous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4892" y="3063240"/>
            <a:ext cx="150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4892" y="3840480"/>
            <a:ext cx="1504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hrs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2286000"/>
            <a:ext cx="1650492" cy="2194560"/>
          </a:xfrm>
          <a:prstGeom prst="roundRect">
            <a:avLst>
              <a:gd name="adj" fmla="val 4986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2514600"/>
            <a:ext cx="1504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Independent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3063240"/>
            <a:ext cx="150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Independent 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16552" y="3840480"/>
            <a:ext cx="1504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~2 hrs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5060" y="2286000"/>
            <a:ext cx="1650492" cy="2194560"/>
          </a:xfrm>
          <a:prstGeom prst="roundRect">
            <a:avLst>
              <a:gd name="adj" fmla="val 4986"/>
            </a:avLst>
          </a:prstGeom>
          <a:solidFill>
            <a:srgbClr val="004976"/>
          </a:solidFill>
          <a:ln w="12700">
            <a:solidFill>
              <a:srgbClr val="0049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8212" y="2514600"/>
            <a:ext cx="1504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Synchronous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68212" y="3063240"/>
            <a:ext cx="150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8212" y="3840480"/>
            <a:ext cx="1504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hrs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0" y="2286000"/>
            <a:ext cx="1650492" cy="2194560"/>
          </a:xfrm>
          <a:prstGeom prst="roundRect">
            <a:avLst>
              <a:gd name="adj" fmla="val 4986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9872" y="2514600"/>
            <a:ext cx="1504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Independent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19872" y="3063240"/>
            <a:ext cx="150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Independent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19872" y="3840480"/>
            <a:ext cx="1504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~3 hrs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898380" y="2286000"/>
            <a:ext cx="1650492" cy="2194560"/>
          </a:xfrm>
          <a:prstGeom prst="roundRect">
            <a:avLst>
              <a:gd name="adj" fmla="val 4986"/>
            </a:avLst>
          </a:prstGeom>
          <a:solidFill>
            <a:srgbClr val="004976"/>
          </a:solidFill>
          <a:ln w="12700">
            <a:solidFill>
              <a:srgbClr val="0049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71532" y="2514600"/>
            <a:ext cx="1504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0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Synchronous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971532" y="3063240"/>
            <a:ext cx="1504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71532" y="3840480"/>
            <a:ext cx="1504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hrs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0292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B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leave with a short scheme, and a planner you can extend into a whole course.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 produce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08792" cy="1554480"/>
          </a:xfrm>
          <a:prstGeom prst="roundRect">
            <a:avLst>
              <a:gd name="adj" fmla="val 5294"/>
            </a:avLst>
          </a:prstGeom>
          <a:solidFill>
            <a:srgbClr val="F1F3E3"/>
          </a:solidFill>
          <a:ln w="12700">
            <a:solidFill>
              <a:srgbClr val="F1F3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40280"/>
            <a:ext cx="10177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0049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short scheme:  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three to six steps for a single piece of learning, showing the English developing inside it.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49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 sign-off you submit that scheme with Sections 1, 2 and 5 of the Planning Guide.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5A6B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Afterwards, the planner is yours to extend, step by step, across your whole course.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49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lens and your aims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1   ·   PITCH TO THIS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A1 looks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21458" cy="2651760"/>
          </a:xfrm>
          <a:prstGeom prst="roundRect">
            <a:avLst>
              <a:gd name="adj" fmla="val 3264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215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Listening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215569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Follows simple, slow, clear speech about familiar things. Needs repetition.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35858" y="2103120"/>
            <a:ext cx="2521458" cy="2651760"/>
          </a:xfrm>
          <a:prstGeom prst="roundRect">
            <a:avLst>
              <a:gd name="adj" fmla="val 3264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8738" y="2331720"/>
            <a:ext cx="215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18738" y="2926080"/>
            <a:ext cx="215569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Uses short set phrases; asks and answers simple questions. Pauses are normal.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31636" y="2103120"/>
            <a:ext cx="2521458" cy="2651760"/>
          </a:xfrm>
          <a:prstGeom prst="roundRect">
            <a:avLst>
              <a:gd name="adj" fmla="val 3264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4516" y="2331720"/>
            <a:ext cx="215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14516" y="2926080"/>
            <a:ext cx="215569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Understands familiar words and very simple sentences on signs and short messages.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027414" y="2103120"/>
            <a:ext cx="2521458" cy="2651760"/>
          </a:xfrm>
          <a:prstGeom prst="roundRect">
            <a:avLst>
              <a:gd name="adj" fmla="val 3264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0294" y="2331720"/>
            <a:ext cx="215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210294" y="2926080"/>
            <a:ext cx="215569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Writes short simple phrases about self and familiar things; fills simple forms.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Learners are rarely even across all four skills. Plan for the skill your learning actually uses.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1   ·   THE KEY DISTINCTION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Content objective vs language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71516" cy="2743200"/>
          </a:xfrm>
          <a:prstGeom prst="roundRect">
            <a:avLst>
              <a:gd name="adj" fmla="val 3000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Content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learners learn about your topic.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566160"/>
            <a:ext cx="48143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“Identify problems in the local surroundings.”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7356" y="2103120"/>
            <a:ext cx="5271516" cy="2743200"/>
          </a:xfrm>
          <a:prstGeom prst="roundRect">
            <a:avLst>
              <a:gd name="adj" fmla="val 3000"/>
            </a:avLst>
          </a:prstGeom>
          <a:solidFill>
            <a:srgbClr val="F1F3E3"/>
          </a:solidFill>
          <a:ln w="12700">
            <a:solidFill>
              <a:srgbClr val="F1F3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5956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Language objective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05956" y="2788920"/>
            <a:ext cx="48143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English that lets learners reach and show it.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05956" y="3566160"/>
            <a:ext cx="48143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“Learners can describe a problem in one or two simple sentences using ‘there is / there are’.”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0749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Write it as something learners will be able to do. Keep it small and A1-realistic.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1   ·   PLANNING GUIDE 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task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8F99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2130552"/>
            <a:ext cx="10131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Share the learning your course involves.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8F99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907792"/>
            <a:ext cx="10131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Name the English learners need to take part in it.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8F99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3685032"/>
            <a:ext cx="10131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Write one or two aims as something learners will be able to do.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8F99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4462272"/>
            <a:ext cx="10131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Keep each aim realistic for A1.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49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Feedback and revision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2   ·   WORKBOOK 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 approaches for developing English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71516" cy="1143000"/>
          </a:xfrm>
          <a:prstGeom prst="roundRect">
            <a:avLst>
              <a:gd name="adj" fmla="val 7200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04288"/>
            <a:ext cx="548640" cy="548640"/>
          </a:xfrm>
          <a:prstGeom prst="ellipse">
            <a:avLst/>
          </a:prstGeom>
          <a:solidFill>
            <a:srgbClr val="0049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17627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use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560320"/>
            <a:ext cx="4174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Learners use English to do something meaningful.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011680"/>
            <a:ext cx="5271516" cy="1143000"/>
          </a:xfrm>
          <a:prstGeom prst="roundRect">
            <a:avLst>
              <a:gd name="adj" fmla="val 7200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0236" y="2304288"/>
            <a:ext cx="548640" cy="548640"/>
          </a:xfrm>
          <a:prstGeom prst="ellipse">
            <a:avLst/>
          </a:prstGeom>
          <a:solidFill>
            <a:srgbClr val="0049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91756" y="217627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 the demand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91756" y="2560320"/>
            <a:ext cx="4174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Spot the words, phrases and structures a task needs.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5271516" cy="1143000"/>
          </a:xfrm>
          <a:prstGeom prst="roundRect">
            <a:avLst>
              <a:gd name="adj" fmla="val 7200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721608"/>
            <a:ext cx="548640" cy="548640"/>
          </a:xfrm>
          <a:prstGeom prst="ellipse">
            <a:avLst/>
          </a:prstGeom>
          <a:solidFill>
            <a:srgbClr val="0049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59359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977640"/>
            <a:ext cx="4174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Show the English in use before learners produce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7356" y="3429000"/>
            <a:ext cx="5271516" cy="1143000"/>
          </a:xfrm>
          <a:prstGeom prst="roundRect">
            <a:avLst>
              <a:gd name="adj" fmla="val 7200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0236" y="3721608"/>
            <a:ext cx="548640" cy="548640"/>
          </a:xfrm>
          <a:prstGeom prst="ellipse">
            <a:avLst/>
          </a:prstGeom>
          <a:solidFill>
            <a:srgbClr val="0049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91756" y="359359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Removable scaffolds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91756" y="3977640"/>
            <a:ext cx="4174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Frames and word banks that come off as learners grow.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5271516" cy="1143000"/>
          </a:xfrm>
          <a:prstGeom prst="roundRect">
            <a:avLst>
              <a:gd name="adj" fmla="val 7200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38928"/>
            <a:ext cx="548640" cy="548640"/>
          </a:xfrm>
          <a:prstGeom prst="ellipse">
            <a:avLst/>
          </a:prstGeom>
          <a:solidFill>
            <a:srgbClr val="0049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501091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Talk before writing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5394960"/>
            <a:ext cx="4174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way in to each skill; rehearse before sharing.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77356" y="4846320"/>
            <a:ext cx="5271516" cy="1143000"/>
          </a:xfrm>
          <a:prstGeom prst="roundRect">
            <a:avLst>
              <a:gd name="adj" fmla="val 7200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0236" y="5138928"/>
            <a:ext cx="548640" cy="548640"/>
          </a:xfrm>
          <a:prstGeom prst="ellipse">
            <a:avLst/>
          </a:prstGeom>
          <a:solidFill>
            <a:srgbClr val="0049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91756" y="501091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and respond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91756" y="5394960"/>
            <a:ext cx="4174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B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Notice where the English lands, and adjust.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SESSIONS 2 AND 3   ·   ~15 MIN PER PERSON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Peer feedback protocol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548640" cy="548640"/>
          </a:xfrm>
          <a:prstGeom prst="ellipse">
            <a:avLst/>
          </a:prstGeom>
          <a:solidFill>
            <a:srgbClr val="8F99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2011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Presenter shares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2011680"/>
            <a:ext cx="6976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Walk through the scheme: the learning, the aims, the steps. No interruptions.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898648"/>
            <a:ext cx="548640" cy="548640"/>
          </a:xfrm>
          <a:prstGeom prst="ellipse">
            <a:avLst/>
          </a:prstGeom>
          <a:solidFill>
            <a:srgbClr val="8F99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8529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Clarifying questions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852928"/>
            <a:ext cx="6976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Genuine questions to understand, not suggestions yet.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739896"/>
            <a:ext cx="548640" cy="548640"/>
          </a:xfrm>
          <a:prstGeom prst="ellipse">
            <a:avLst/>
          </a:prstGeom>
          <a:solidFill>
            <a:srgbClr val="8F99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6941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Warm feedback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694176"/>
            <a:ext cx="6976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is strong, tied to the three criteria.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581144"/>
            <a:ext cx="548640" cy="548640"/>
          </a:xfrm>
          <a:prstGeom prst="ellipse">
            <a:avLst/>
          </a:prstGeom>
          <a:solidFill>
            <a:srgbClr val="8F99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45354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Cool feedback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4535424"/>
            <a:ext cx="6976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or two questions that might strengthen it, framed as questions.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INDEPENDENT WORK   ·   PLANNING GUIDE SECTIONS 3 AND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Between the sessions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0049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2130552"/>
            <a:ext cx="10131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Note ideas for each of the six approaches (Section 3).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0049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907792"/>
            <a:ext cx="10131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Draft three to six steps of your scheme (Section 4).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0049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3685032"/>
            <a:ext cx="10131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 each step: what learners do, the English it builds, the scaffold used.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0049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4462272"/>
            <a:ext cx="10131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Then complete Section 5: how you will know it's working.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49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Readiness and extension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3   ·   EACH CRITERION MET OR NOT YET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your scheme is signed 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22904" cy="2468880"/>
          </a:xfrm>
          <a:prstGeom prst="roundRect">
            <a:avLst>
              <a:gd name="adj" fmla="val 3333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68880"/>
            <a:ext cx="548640" cy="548640"/>
          </a:xfrm>
          <a:prstGeom prst="ellipse">
            <a:avLst/>
          </a:prstGeom>
          <a:solidFill>
            <a:srgbClr val="8F99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15468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Pitched to the level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88620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English is realistic and scaffolded for learners at and around CEFR A1.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3024" y="2194560"/>
            <a:ext cx="3422904" cy="2468880"/>
          </a:xfrm>
          <a:prstGeom prst="roundRect">
            <a:avLst>
              <a:gd name="adj" fmla="val 3333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1624" y="2468880"/>
            <a:ext cx="548640" cy="548640"/>
          </a:xfrm>
          <a:prstGeom prst="ellipse">
            <a:avLst/>
          </a:prstGeom>
          <a:solidFill>
            <a:srgbClr val="8F99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1624" y="315468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Sound approach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1624" y="388620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Clear language aims, developed through real use and meaningful communication.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5968" y="2194560"/>
            <a:ext cx="3422904" cy="2468880"/>
          </a:xfrm>
          <a:prstGeom prst="roundRect">
            <a:avLst>
              <a:gd name="adj" fmla="val 3333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4568" y="2468880"/>
            <a:ext cx="548640" cy="548640"/>
          </a:xfrm>
          <a:prstGeom prst="ellipse">
            <a:avLst/>
          </a:prstGeom>
          <a:solidFill>
            <a:srgbClr val="8F99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54568" y="315468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Purposeful and connected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54568" y="3886200"/>
            <a:ext cx="2965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English is drawn from learning that matters and connects to it, not taught apart.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B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 three Met is a pass. Section 6 of your Planning Guide checks against these same three.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9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BEYOND THE MODULE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 it across your whole course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0E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Repeat the same move for the next pieces of learning, so the English builds over the weeks. Then submit your scheme for sign-off.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2026-08-04T09:43:15Z</dcterms:created>
  <dcterms:modified xsi:type="dcterms:W3CDTF">2026-08-04T09:43:15Z</dcterms:modified>
</cp:coreProperties>
</file>