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976"/>
        </a:solidFill>
      </p:bgPr>
    </p:bg>
    <p:spTree>
      <p:nvGrpSpPr>
        <p:cNvPr id="1" name=""/>
        <p:cNvGrpSpPr/>
        <p:nvPr/>
      </p:nvGrpSpPr>
      <p:grpSpPr>
        <a:xfrm>
          <a:off x="0" y="0"/>
          <a:ext cx="0" cy="0"/>
          <a:chOff x="0" y="0"/>
          <a:chExt cx="0" cy="0"/>
        </a:xfrm>
      </p:grpSpPr>
      <p:sp>
        <p:nvSpPr>
          <p:cNvPr id="2" name="Shape 0"/>
          <p:cNvSpPr/>
          <p:nvPr/>
        </p:nvSpPr>
        <p:spPr>
          <a:xfrm>
            <a:off x="10058400" y="-1188720"/>
            <a:ext cx="3108960" cy="3108960"/>
          </a:xfrm>
          <a:prstGeom prst="ellipse">
            <a:avLst/>
          </a:prstGeom>
          <a:solidFill>
            <a:srgbClr val="8F993E">
              <a:alpha val="30000"/>
            </a:srgbClr>
          </a:solidFill>
          <a:ln/>
        </p:spPr>
      </p:sp>
      <p:sp>
        <p:nvSpPr>
          <p:cNvPr id="3" name="Shape 1"/>
          <p:cNvSpPr/>
          <p:nvPr/>
        </p:nvSpPr>
        <p:spPr>
          <a:xfrm>
            <a:off x="10881360" y="4572000"/>
            <a:ext cx="2377440" cy="2377440"/>
          </a:xfrm>
          <a:prstGeom prst="ellipse">
            <a:avLst/>
          </a:prstGeom>
          <a:solidFill>
            <a:srgbClr val="4797A8">
              <a:alpha val="25000"/>
            </a:srgbClr>
          </a:solidFill>
          <a:ln/>
        </p:spPr>
      </p:sp>
      <p:sp>
        <p:nvSpPr>
          <p:cNvPr id="4" name="Text 2"/>
          <p:cNvSpPr/>
          <p:nvPr/>
        </p:nvSpPr>
        <p:spPr>
          <a:xfrm>
            <a:off x="640080" y="2286000"/>
            <a:ext cx="10058400" cy="1097280"/>
          </a:xfrm>
          <a:prstGeom prst="rect">
            <a:avLst/>
          </a:prstGeom>
          <a:noFill/>
          <a:ln/>
        </p:spPr>
        <p:txBody>
          <a:bodyPr wrap="square" rtlCol="0" anchor="ctr"/>
          <a:lstStyle/>
          <a:p>
            <a:pPr indent="0" marL="0">
              <a:buNone/>
            </a:pPr>
            <a:r>
              <a:rPr lang="en-US" sz="5600" b="1" dirty="0">
                <a:solidFill>
                  <a:srgbClr val="FFFFFF"/>
                </a:solidFill>
                <a:latin typeface="Roboto" pitchFamily="34" charset="0"/>
                <a:ea typeface="Roboto" pitchFamily="34" charset="-122"/>
                <a:cs typeface="Roboto" pitchFamily="34" charset="-120"/>
              </a:rPr>
              <a:t>Being a mentor</a:t>
            </a:r>
            <a:endParaRPr lang="en-US" sz="5600" dirty="0"/>
          </a:p>
        </p:txBody>
      </p:sp>
      <p:sp>
        <p:nvSpPr>
          <p:cNvPr id="5" name="Text 3"/>
          <p:cNvSpPr/>
          <p:nvPr/>
        </p:nvSpPr>
        <p:spPr>
          <a:xfrm>
            <a:off x="640080" y="3383280"/>
            <a:ext cx="10058400" cy="548640"/>
          </a:xfrm>
          <a:prstGeom prst="rect">
            <a:avLst/>
          </a:prstGeom>
          <a:noFill/>
          <a:ln/>
        </p:spPr>
        <p:txBody>
          <a:bodyPr wrap="square" rtlCol="0" anchor="ctr"/>
          <a:lstStyle/>
          <a:p>
            <a:pPr indent="0" marL="0">
              <a:buNone/>
            </a:pPr>
            <a:r>
              <a:rPr lang="en-US" sz="2200" dirty="0">
                <a:solidFill>
                  <a:srgbClr val="F0B323"/>
                </a:solidFill>
                <a:latin typeface="Roboto" pitchFamily="34" charset="0"/>
                <a:ea typeface="Roboto" pitchFamily="34" charset="-122"/>
                <a:cs typeface="Roboto" pitchFamily="34" charset="-120"/>
              </a:rPr>
              <a:t>Facilitator slides   ·   Session 1 and Session 2</a:t>
            </a:r>
            <a:endParaRPr lang="en-US" sz="22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300" dirty="0">
                <a:solidFill>
                  <a:srgbClr val="BBD0DE"/>
                </a:solidFill>
                <a:latin typeface="Lato" pitchFamily="34" charset="0"/>
                <a:ea typeface="Lato" pitchFamily="34" charset="-122"/>
                <a:cs typeface="Lato" pitchFamily="34" charset="-120"/>
              </a:rPr>
              <a:t>Amala Education for Change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976"/>
        </a:solidFill>
      </p:bgPr>
    </p:bg>
    <p:spTree>
      <p:nvGrpSpPr>
        <p:cNvPr id="1" name=""/>
        <p:cNvGrpSpPr/>
        <p:nvPr/>
      </p:nvGrpSpPr>
      <p:grpSpPr>
        <a:xfrm>
          <a:off x="0" y="0"/>
          <a:ext cx="0" cy="0"/>
          <a:chOff x="0" y="0"/>
          <a:chExt cx="0" cy="0"/>
        </a:xfrm>
      </p:grpSpPr>
      <p:sp>
        <p:nvSpPr>
          <p:cNvPr id="2" name="Shape 0"/>
          <p:cNvSpPr/>
          <p:nvPr/>
        </p:nvSpPr>
        <p:spPr>
          <a:xfrm>
            <a:off x="-1005840" y="4937760"/>
            <a:ext cx="2743200" cy="2743200"/>
          </a:xfrm>
          <a:prstGeom prst="ellipse">
            <a:avLst/>
          </a:prstGeom>
          <a:solidFill>
            <a:srgbClr val="8F993E">
              <a:alpha val="28000"/>
            </a:srgbClr>
          </a:solidFill>
          <a:ln/>
        </p:spPr>
      </p:sp>
      <p:sp>
        <p:nvSpPr>
          <p:cNvPr id="3" name="Text 1"/>
          <p:cNvSpPr/>
          <p:nvPr/>
        </p:nvSpPr>
        <p:spPr>
          <a:xfrm>
            <a:off x="640080" y="2468880"/>
            <a:ext cx="10058400" cy="457200"/>
          </a:xfrm>
          <a:prstGeom prst="rect">
            <a:avLst/>
          </a:prstGeom>
          <a:noFill/>
          <a:ln/>
        </p:spPr>
        <p:txBody>
          <a:bodyPr wrap="square" rtlCol="0" anchor="ctr"/>
          <a:lstStyle/>
          <a:p>
            <a:pPr indent="0" marL="0">
              <a:buNone/>
            </a:pPr>
            <a:r>
              <a:rPr lang="en-US" sz="2200" b="1" dirty="0">
                <a:solidFill>
                  <a:srgbClr val="F0B323"/>
                </a:solidFill>
                <a:latin typeface="Roboto" pitchFamily="34" charset="0"/>
                <a:ea typeface="Roboto" pitchFamily="34" charset="-122"/>
                <a:cs typeface="Roboto" pitchFamily="34" charset="-120"/>
              </a:rPr>
              <a:t>Session 1</a:t>
            </a:r>
            <a:endParaRPr lang="en-US" sz="2200" dirty="0"/>
          </a:p>
        </p:txBody>
      </p:sp>
      <p:sp>
        <p:nvSpPr>
          <p:cNvPr id="4" name="Text 2"/>
          <p:cNvSpPr/>
          <p:nvPr/>
        </p:nvSpPr>
        <p:spPr>
          <a:xfrm>
            <a:off x="640080" y="2971800"/>
            <a:ext cx="10515600" cy="1097280"/>
          </a:xfrm>
          <a:prstGeom prst="rect">
            <a:avLst/>
          </a:prstGeom>
          <a:noFill/>
          <a:ln/>
        </p:spPr>
        <p:txBody>
          <a:bodyPr wrap="square" rtlCol="0" anchor="ctr"/>
          <a:lstStyle/>
          <a:p>
            <a:pPr indent="0" marL="0">
              <a:buNone/>
            </a:pPr>
            <a:r>
              <a:rPr lang="en-US" sz="3800" b="1" dirty="0">
                <a:solidFill>
                  <a:srgbClr val="FFFFFF"/>
                </a:solidFill>
                <a:latin typeface="Roboto" pitchFamily="34" charset="0"/>
                <a:ea typeface="Roboto" pitchFamily="34" charset="-122"/>
                <a:cs typeface="Roboto" pitchFamily="34" charset="-120"/>
              </a:rPr>
              <a:t>The role, and the decision under it</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What you will leave with today</a:t>
            </a:r>
            <a:endParaRPr lang="en-US" sz="3400" dirty="0"/>
          </a:p>
        </p:txBody>
      </p:sp>
      <p:sp>
        <p:nvSpPr>
          <p:cNvPr id="3" name="Shape 1"/>
          <p:cNvSpPr/>
          <p:nvPr/>
        </p:nvSpPr>
        <p:spPr>
          <a:xfrm>
            <a:off x="640080" y="1737360"/>
            <a:ext cx="502920" cy="502920"/>
          </a:xfrm>
          <a:prstGeom prst="ellipse">
            <a:avLst/>
          </a:prstGeom>
          <a:solidFill>
            <a:srgbClr val="004976"/>
          </a:solidFill>
          <a:ln/>
        </p:spPr>
      </p:sp>
      <p:sp>
        <p:nvSpPr>
          <p:cNvPr id="4" name="Text 2"/>
          <p:cNvSpPr/>
          <p:nvPr/>
        </p:nvSpPr>
        <p:spPr>
          <a:xfrm>
            <a:off x="640080" y="1737360"/>
            <a:ext cx="502920" cy="502920"/>
          </a:xfrm>
          <a:prstGeom prst="rect">
            <a:avLst/>
          </a:prstGeom>
          <a:noFill/>
          <a:ln/>
        </p:spPr>
        <p:txBody>
          <a:bodyPr wrap="square" rtlCol="0" anchor="ctr"/>
          <a:lstStyle/>
          <a:p>
            <a:pPr algn="ctr" indent="0" marL="0">
              <a:buNone/>
            </a:pPr>
            <a:r>
              <a:rPr lang="en-US" sz="2000" b="1" dirty="0">
                <a:solidFill>
                  <a:srgbClr val="FFFFFF"/>
                </a:solidFill>
                <a:latin typeface="Roboto" pitchFamily="34" charset="0"/>
                <a:ea typeface="Roboto" pitchFamily="34" charset="-122"/>
                <a:cs typeface="Roboto" pitchFamily="34" charset="-120"/>
              </a:rPr>
              <a:t>1</a:t>
            </a:r>
            <a:endParaRPr lang="en-US" sz="2000" dirty="0"/>
          </a:p>
        </p:txBody>
      </p:sp>
      <p:sp>
        <p:nvSpPr>
          <p:cNvPr id="5" name="Text 3"/>
          <p:cNvSpPr/>
          <p:nvPr/>
        </p:nvSpPr>
        <p:spPr>
          <a:xfrm>
            <a:off x="1417320" y="1691640"/>
            <a:ext cx="101342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The five parts of the mentor role, and the one decision under them</a:t>
            </a:r>
            <a:endParaRPr lang="en-US" sz="1900" dirty="0"/>
          </a:p>
        </p:txBody>
      </p:sp>
      <p:sp>
        <p:nvSpPr>
          <p:cNvPr id="6" name="Shape 4"/>
          <p:cNvSpPr/>
          <p:nvPr/>
        </p:nvSpPr>
        <p:spPr>
          <a:xfrm>
            <a:off x="640080" y="2788920"/>
            <a:ext cx="502920" cy="502920"/>
          </a:xfrm>
          <a:prstGeom prst="ellipse">
            <a:avLst/>
          </a:prstGeom>
          <a:solidFill>
            <a:srgbClr val="004976"/>
          </a:solidFill>
          <a:ln/>
        </p:spPr>
      </p:sp>
      <p:sp>
        <p:nvSpPr>
          <p:cNvPr id="7" name="Text 5"/>
          <p:cNvSpPr/>
          <p:nvPr/>
        </p:nvSpPr>
        <p:spPr>
          <a:xfrm>
            <a:off x="640080" y="2788920"/>
            <a:ext cx="502920" cy="502920"/>
          </a:xfrm>
          <a:prstGeom prst="rect">
            <a:avLst/>
          </a:prstGeom>
          <a:noFill/>
          <a:ln/>
        </p:spPr>
        <p:txBody>
          <a:bodyPr wrap="square" rtlCol="0" anchor="ctr"/>
          <a:lstStyle/>
          <a:p>
            <a:pPr algn="ctr" indent="0" marL="0">
              <a:buNone/>
            </a:pPr>
            <a:r>
              <a:rPr lang="en-US" sz="2000" b="1" dirty="0">
                <a:solidFill>
                  <a:srgbClr val="FFFFFF"/>
                </a:solidFill>
                <a:latin typeface="Roboto" pitchFamily="34" charset="0"/>
                <a:ea typeface="Roboto" pitchFamily="34" charset="-122"/>
                <a:cs typeface="Roboto" pitchFamily="34" charset="-120"/>
              </a:rPr>
              <a:t>2</a:t>
            </a:r>
            <a:endParaRPr lang="en-US" sz="2000" dirty="0"/>
          </a:p>
        </p:txBody>
      </p:sp>
      <p:sp>
        <p:nvSpPr>
          <p:cNvPr id="8" name="Text 6"/>
          <p:cNvSpPr/>
          <p:nvPr/>
        </p:nvSpPr>
        <p:spPr>
          <a:xfrm>
            <a:off x="1417320" y="2743200"/>
            <a:ext cx="101342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The coaching stance, seen in action</a:t>
            </a:r>
            <a:endParaRPr lang="en-US" sz="1900" dirty="0"/>
          </a:p>
        </p:txBody>
      </p:sp>
      <p:sp>
        <p:nvSpPr>
          <p:cNvPr id="9" name="Shape 7"/>
          <p:cNvSpPr/>
          <p:nvPr/>
        </p:nvSpPr>
        <p:spPr>
          <a:xfrm>
            <a:off x="640080" y="3840480"/>
            <a:ext cx="502920" cy="502920"/>
          </a:xfrm>
          <a:prstGeom prst="ellipse">
            <a:avLst/>
          </a:prstGeom>
          <a:solidFill>
            <a:srgbClr val="004976"/>
          </a:solidFill>
          <a:ln/>
        </p:spPr>
      </p:sp>
      <p:sp>
        <p:nvSpPr>
          <p:cNvPr id="10" name="Text 8"/>
          <p:cNvSpPr/>
          <p:nvPr/>
        </p:nvSpPr>
        <p:spPr>
          <a:xfrm>
            <a:off x="640080" y="3840480"/>
            <a:ext cx="502920" cy="502920"/>
          </a:xfrm>
          <a:prstGeom prst="rect">
            <a:avLst/>
          </a:prstGeom>
          <a:noFill/>
          <a:ln/>
        </p:spPr>
        <p:txBody>
          <a:bodyPr wrap="square" rtlCol="0" anchor="ctr"/>
          <a:lstStyle/>
          <a:p>
            <a:pPr algn="ctr" indent="0" marL="0">
              <a:buNone/>
            </a:pPr>
            <a:r>
              <a:rPr lang="en-US" sz="2000" b="1" dirty="0">
                <a:solidFill>
                  <a:srgbClr val="FFFFFF"/>
                </a:solidFill>
                <a:latin typeface="Roboto" pitchFamily="34" charset="0"/>
                <a:ea typeface="Roboto" pitchFamily="34" charset="-122"/>
                <a:cs typeface="Roboto" pitchFamily="34" charset="-120"/>
              </a:rPr>
              <a:t>3</a:t>
            </a:r>
            <a:endParaRPr lang="en-US" sz="2000" dirty="0"/>
          </a:p>
        </p:txBody>
      </p:sp>
      <p:sp>
        <p:nvSpPr>
          <p:cNvPr id="11" name="Text 9"/>
          <p:cNvSpPr/>
          <p:nvPr/>
        </p:nvSpPr>
        <p:spPr>
          <a:xfrm>
            <a:off x="1417320" y="3794760"/>
            <a:ext cx="101342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A sharper Section 1, talked through with peers</a:t>
            </a:r>
            <a:endParaRPr lang="en-US" sz="1900" dirty="0"/>
          </a:p>
        </p:txBody>
      </p:sp>
      <p:sp>
        <p:nvSpPr>
          <p:cNvPr id="12" name="Shape 10"/>
          <p:cNvSpPr/>
          <p:nvPr/>
        </p:nvSpPr>
        <p:spPr>
          <a:xfrm>
            <a:off x="640080" y="4892040"/>
            <a:ext cx="502920" cy="502920"/>
          </a:xfrm>
          <a:prstGeom prst="ellipse">
            <a:avLst/>
          </a:prstGeom>
          <a:solidFill>
            <a:srgbClr val="004976"/>
          </a:solidFill>
          <a:ln/>
        </p:spPr>
      </p:sp>
      <p:sp>
        <p:nvSpPr>
          <p:cNvPr id="13" name="Text 11"/>
          <p:cNvSpPr/>
          <p:nvPr/>
        </p:nvSpPr>
        <p:spPr>
          <a:xfrm>
            <a:off x="640080" y="4892040"/>
            <a:ext cx="502920" cy="502920"/>
          </a:xfrm>
          <a:prstGeom prst="rect">
            <a:avLst/>
          </a:prstGeom>
          <a:noFill/>
          <a:ln/>
        </p:spPr>
        <p:txBody>
          <a:bodyPr wrap="square" rtlCol="0" anchor="ctr"/>
          <a:lstStyle/>
          <a:p>
            <a:pPr algn="ctr" indent="0" marL="0">
              <a:buNone/>
            </a:pPr>
            <a:r>
              <a:rPr lang="en-US" sz="2000" b="1" dirty="0">
                <a:solidFill>
                  <a:srgbClr val="FFFFFF"/>
                </a:solidFill>
                <a:latin typeface="Roboto" pitchFamily="34" charset="0"/>
                <a:ea typeface="Roboto" pitchFamily="34" charset="-122"/>
                <a:cs typeface="Roboto" pitchFamily="34" charset="-120"/>
              </a:rPr>
              <a:t>4</a:t>
            </a:r>
            <a:endParaRPr lang="en-US" sz="2000" dirty="0"/>
          </a:p>
        </p:txBody>
      </p:sp>
      <p:sp>
        <p:nvSpPr>
          <p:cNvPr id="14" name="Text 12"/>
          <p:cNvSpPr/>
          <p:nvPr/>
        </p:nvSpPr>
        <p:spPr>
          <a:xfrm>
            <a:off x="1417320" y="4846320"/>
            <a:ext cx="101342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A clear brief for your independent work</a:t>
            </a:r>
            <a:endParaRPr lang="en-US" sz="1900" dirty="0"/>
          </a:p>
        </p:txBody>
      </p:sp>
      <p:sp>
        <p:nvSpPr>
          <p:cNvPr id="15" name="Text 13"/>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The mentor’s role: five parts</a:t>
            </a:r>
            <a:endParaRPr lang="en-US" sz="3400" dirty="0"/>
          </a:p>
        </p:txBody>
      </p:sp>
      <p:sp>
        <p:nvSpPr>
          <p:cNvPr id="3" name="Shape 1"/>
          <p:cNvSpPr/>
          <p:nvPr/>
        </p:nvSpPr>
        <p:spPr>
          <a:xfrm>
            <a:off x="335128" y="1783080"/>
            <a:ext cx="2084832" cy="3840480"/>
          </a:xfrm>
          <a:prstGeom prst="roundRect">
            <a:avLst>
              <a:gd name="adj" fmla="val 4386"/>
            </a:avLst>
          </a:prstGeom>
          <a:solidFill>
            <a:srgbClr val="F1F5F8"/>
          </a:solidFill>
          <a:ln w="12700">
            <a:solidFill>
              <a:srgbClr val="D8E2EA"/>
            </a:solidFill>
            <a:prstDash val="solid"/>
          </a:ln>
        </p:spPr>
      </p:sp>
      <p:sp>
        <p:nvSpPr>
          <p:cNvPr id="4" name="Shape 2"/>
          <p:cNvSpPr/>
          <p:nvPr/>
        </p:nvSpPr>
        <p:spPr>
          <a:xfrm>
            <a:off x="993496" y="2103120"/>
            <a:ext cx="768096" cy="768096"/>
          </a:xfrm>
          <a:prstGeom prst="ellipse">
            <a:avLst/>
          </a:prstGeom>
          <a:solidFill>
            <a:srgbClr val="4797A8"/>
          </a:solidFill>
          <a:ln/>
        </p:spPr>
      </p:sp>
      <p:sp>
        <p:nvSpPr>
          <p:cNvPr id="5" name="Text 3"/>
          <p:cNvSpPr/>
          <p:nvPr/>
        </p:nvSpPr>
        <p:spPr>
          <a:xfrm>
            <a:off x="993496" y="2103120"/>
            <a:ext cx="768096" cy="768096"/>
          </a:xfrm>
          <a:prstGeom prst="rect">
            <a:avLst/>
          </a:prstGeom>
          <a:noFill/>
          <a:ln/>
        </p:spPr>
        <p:txBody>
          <a:bodyPr wrap="square" rtlCol="0" anchor="ctr"/>
          <a:lstStyle/>
          <a:p>
            <a:pPr algn="ctr" indent="0" marL="0">
              <a:buNone/>
            </a:pPr>
            <a:r>
              <a:rPr lang="en-US" sz="2600" b="1" dirty="0">
                <a:solidFill>
                  <a:srgbClr val="FFFFFF"/>
                </a:solidFill>
                <a:latin typeface="Roboto" pitchFamily="34" charset="0"/>
                <a:ea typeface="Roboto" pitchFamily="34" charset="-122"/>
                <a:cs typeface="Roboto" pitchFamily="34" charset="-120"/>
              </a:rPr>
              <a:t>1</a:t>
            </a:r>
            <a:endParaRPr lang="en-US" sz="2600" dirty="0"/>
          </a:p>
        </p:txBody>
      </p:sp>
      <p:sp>
        <p:nvSpPr>
          <p:cNvPr id="6" name="Text 4"/>
          <p:cNvSpPr/>
          <p:nvPr/>
        </p:nvSpPr>
        <p:spPr>
          <a:xfrm>
            <a:off x="472288" y="3063240"/>
            <a:ext cx="1810512" cy="1005840"/>
          </a:xfrm>
          <a:prstGeom prst="rect">
            <a:avLst/>
          </a:prstGeom>
          <a:noFill/>
          <a:ln/>
        </p:spPr>
        <p:txBody>
          <a:bodyPr wrap="square" rtlCol="0" anchor="t"/>
          <a:lstStyle/>
          <a:p>
            <a:pPr algn="ctr" indent="0" marL="0">
              <a:buNone/>
            </a:pPr>
            <a:r>
              <a:rPr lang="en-US" sz="1500" b="1" dirty="0">
                <a:solidFill>
                  <a:srgbClr val="004976"/>
                </a:solidFill>
                <a:latin typeface="Roboto" pitchFamily="34" charset="0"/>
                <a:ea typeface="Roboto" pitchFamily="34" charset="-122"/>
                <a:cs typeface="Roboto" pitchFamily="34" charset="-120"/>
              </a:rPr>
              <a:t>Wellbeing &amp; belonging</a:t>
            </a:r>
            <a:endParaRPr lang="en-US" sz="1500" dirty="0"/>
          </a:p>
        </p:txBody>
      </p:sp>
      <p:sp>
        <p:nvSpPr>
          <p:cNvPr id="7" name="Text 5"/>
          <p:cNvSpPr/>
          <p:nvPr/>
        </p:nvSpPr>
        <p:spPr>
          <a:xfrm>
            <a:off x="472288" y="4114800"/>
            <a:ext cx="1810512" cy="1280160"/>
          </a:xfrm>
          <a:prstGeom prst="rect">
            <a:avLst/>
          </a:prstGeom>
          <a:noFill/>
          <a:ln/>
        </p:spPr>
        <p:txBody>
          <a:bodyPr wrap="square" rtlCol="0" anchor="t"/>
          <a:lstStyle/>
          <a:p>
            <a:pPr algn="ctr" indent="0" marL="0">
              <a:buNone/>
            </a:pPr>
            <a:r>
              <a:rPr lang="en-US" sz="1250" dirty="0">
                <a:solidFill>
                  <a:srgbClr val="444444"/>
                </a:solidFill>
                <a:latin typeface="Lato" pitchFamily="34" charset="0"/>
                <a:ea typeface="Lato" pitchFamily="34" charset="-122"/>
                <a:cs typeface="Lato" pitchFamily="34" charset="-120"/>
              </a:rPr>
              <a:t>Feeling safe, supported, and able to raise concerns.</a:t>
            </a:r>
            <a:endParaRPr lang="en-US" sz="1250" dirty="0"/>
          </a:p>
        </p:txBody>
      </p:sp>
      <p:sp>
        <p:nvSpPr>
          <p:cNvPr id="8" name="Shape 6"/>
          <p:cNvSpPr/>
          <p:nvPr/>
        </p:nvSpPr>
        <p:spPr>
          <a:xfrm>
            <a:off x="2694280" y="1783080"/>
            <a:ext cx="2084832" cy="3840480"/>
          </a:xfrm>
          <a:prstGeom prst="roundRect">
            <a:avLst>
              <a:gd name="adj" fmla="val 4386"/>
            </a:avLst>
          </a:prstGeom>
          <a:solidFill>
            <a:srgbClr val="F1F5F8"/>
          </a:solidFill>
          <a:ln w="12700">
            <a:solidFill>
              <a:srgbClr val="D8E2EA"/>
            </a:solidFill>
            <a:prstDash val="solid"/>
          </a:ln>
        </p:spPr>
      </p:sp>
      <p:sp>
        <p:nvSpPr>
          <p:cNvPr id="9" name="Shape 7"/>
          <p:cNvSpPr/>
          <p:nvPr/>
        </p:nvSpPr>
        <p:spPr>
          <a:xfrm>
            <a:off x="3352648" y="2103120"/>
            <a:ext cx="768096" cy="768096"/>
          </a:xfrm>
          <a:prstGeom prst="ellipse">
            <a:avLst/>
          </a:prstGeom>
          <a:solidFill>
            <a:srgbClr val="EF9600"/>
          </a:solidFill>
          <a:ln/>
        </p:spPr>
      </p:sp>
      <p:sp>
        <p:nvSpPr>
          <p:cNvPr id="10" name="Text 8"/>
          <p:cNvSpPr/>
          <p:nvPr/>
        </p:nvSpPr>
        <p:spPr>
          <a:xfrm>
            <a:off x="3352648" y="2103120"/>
            <a:ext cx="768096" cy="768096"/>
          </a:xfrm>
          <a:prstGeom prst="rect">
            <a:avLst/>
          </a:prstGeom>
          <a:noFill/>
          <a:ln/>
        </p:spPr>
        <p:txBody>
          <a:bodyPr wrap="square" rtlCol="0" anchor="ctr"/>
          <a:lstStyle/>
          <a:p>
            <a:pPr algn="ctr" indent="0" marL="0">
              <a:buNone/>
            </a:pPr>
            <a:r>
              <a:rPr lang="en-US" sz="2600" b="1" dirty="0">
                <a:solidFill>
                  <a:srgbClr val="FFFFFF"/>
                </a:solidFill>
                <a:latin typeface="Roboto" pitchFamily="34" charset="0"/>
                <a:ea typeface="Roboto" pitchFamily="34" charset="-122"/>
                <a:cs typeface="Roboto" pitchFamily="34" charset="-120"/>
              </a:rPr>
              <a:t>2</a:t>
            </a:r>
            <a:endParaRPr lang="en-US" sz="2600" dirty="0"/>
          </a:p>
        </p:txBody>
      </p:sp>
      <p:sp>
        <p:nvSpPr>
          <p:cNvPr id="11" name="Text 9"/>
          <p:cNvSpPr/>
          <p:nvPr/>
        </p:nvSpPr>
        <p:spPr>
          <a:xfrm>
            <a:off x="2831440" y="3063240"/>
            <a:ext cx="1810512" cy="1005840"/>
          </a:xfrm>
          <a:prstGeom prst="rect">
            <a:avLst/>
          </a:prstGeom>
          <a:noFill/>
          <a:ln/>
        </p:spPr>
        <p:txBody>
          <a:bodyPr wrap="square" rtlCol="0" anchor="t"/>
          <a:lstStyle/>
          <a:p>
            <a:pPr algn="ctr" indent="0" marL="0">
              <a:buNone/>
            </a:pPr>
            <a:r>
              <a:rPr lang="en-US" sz="1500" b="1" dirty="0">
                <a:solidFill>
                  <a:srgbClr val="004976"/>
                </a:solidFill>
                <a:latin typeface="Roboto" pitchFamily="34" charset="0"/>
                <a:ea typeface="Roboto" pitchFamily="34" charset="-122"/>
                <a:cs typeface="Roboto" pitchFamily="34" charset="-120"/>
              </a:rPr>
              <a:t>Safeguarding &amp; referral</a:t>
            </a:r>
            <a:endParaRPr lang="en-US" sz="1500" dirty="0"/>
          </a:p>
        </p:txBody>
      </p:sp>
      <p:sp>
        <p:nvSpPr>
          <p:cNvPr id="12" name="Text 10"/>
          <p:cNvSpPr/>
          <p:nvPr/>
        </p:nvSpPr>
        <p:spPr>
          <a:xfrm>
            <a:off x="2831440" y="4114800"/>
            <a:ext cx="1810512" cy="1280160"/>
          </a:xfrm>
          <a:prstGeom prst="rect">
            <a:avLst/>
          </a:prstGeom>
          <a:noFill/>
          <a:ln/>
        </p:spPr>
        <p:txBody>
          <a:bodyPr wrap="square" rtlCol="0" anchor="t"/>
          <a:lstStyle/>
          <a:p>
            <a:pPr algn="ctr" indent="0" marL="0">
              <a:buNone/>
            </a:pPr>
            <a:r>
              <a:rPr lang="en-US" sz="1250" dirty="0">
                <a:solidFill>
                  <a:srgbClr val="444444"/>
                </a:solidFill>
                <a:latin typeface="Lato" pitchFamily="34" charset="0"/>
                <a:ea typeface="Lato" pitchFamily="34" charset="-122"/>
                <a:cs typeface="Lato" pitchFamily="34" charset="-120"/>
              </a:rPr>
              <a:t>Noticing concerns and responding within your policy.</a:t>
            </a:r>
            <a:endParaRPr lang="en-US" sz="1250" dirty="0"/>
          </a:p>
        </p:txBody>
      </p:sp>
      <p:sp>
        <p:nvSpPr>
          <p:cNvPr id="13" name="Shape 11"/>
          <p:cNvSpPr/>
          <p:nvPr/>
        </p:nvSpPr>
        <p:spPr>
          <a:xfrm>
            <a:off x="5053432" y="1783080"/>
            <a:ext cx="2084832" cy="3840480"/>
          </a:xfrm>
          <a:prstGeom prst="roundRect">
            <a:avLst>
              <a:gd name="adj" fmla="val 4386"/>
            </a:avLst>
          </a:prstGeom>
          <a:solidFill>
            <a:srgbClr val="F1F5F8"/>
          </a:solidFill>
          <a:ln w="12700">
            <a:solidFill>
              <a:srgbClr val="D8E2EA"/>
            </a:solidFill>
            <a:prstDash val="solid"/>
          </a:ln>
        </p:spPr>
      </p:sp>
      <p:sp>
        <p:nvSpPr>
          <p:cNvPr id="14" name="Shape 12"/>
          <p:cNvSpPr/>
          <p:nvPr/>
        </p:nvSpPr>
        <p:spPr>
          <a:xfrm>
            <a:off x="5711800" y="2103120"/>
            <a:ext cx="768096" cy="768096"/>
          </a:xfrm>
          <a:prstGeom prst="ellipse">
            <a:avLst/>
          </a:prstGeom>
          <a:solidFill>
            <a:srgbClr val="8F993E"/>
          </a:solidFill>
          <a:ln/>
        </p:spPr>
      </p:sp>
      <p:sp>
        <p:nvSpPr>
          <p:cNvPr id="15" name="Text 13"/>
          <p:cNvSpPr/>
          <p:nvPr/>
        </p:nvSpPr>
        <p:spPr>
          <a:xfrm>
            <a:off x="5711800" y="2103120"/>
            <a:ext cx="768096" cy="768096"/>
          </a:xfrm>
          <a:prstGeom prst="rect">
            <a:avLst/>
          </a:prstGeom>
          <a:noFill/>
          <a:ln/>
        </p:spPr>
        <p:txBody>
          <a:bodyPr wrap="square" rtlCol="0" anchor="ctr"/>
          <a:lstStyle/>
          <a:p>
            <a:pPr algn="ctr" indent="0" marL="0">
              <a:buNone/>
            </a:pPr>
            <a:r>
              <a:rPr lang="en-US" sz="2600" b="1" dirty="0">
                <a:solidFill>
                  <a:srgbClr val="FFFFFF"/>
                </a:solidFill>
                <a:latin typeface="Roboto" pitchFamily="34" charset="0"/>
                <a:ea typeface="Roboto" pitchFamily="34" charset="-122"/>
                <a:cs typeface="Roboto" pitchFamily="34" charset="-120"/>
              </a:rPr>
              <a:t>3</a:t>
            </a:r>
            <a:endParaRPr lang="en-US" sz="2600" dirty="0"/>
          </a:p>
        </p:txBody>
      </p:sp>
      <p:sp>
        <p:nvSpPr>
          <p:cNvPr id="16" name="Text 14"/>
          <p:cNvSpPr/>
          <p:nvPr/>
        </p:nvSpPr>
        <p:spPr>
          <a:xfrm>
            <a:off x="5190592" y="3063240"/>
            <a:ext cx="1810512" cy="1005840"/>
          </a:xfrm>
          <a:prstGeom prst="rect">
            <a:avLst/>
          </a:prstGeom>
          <a:noFill/>
          <a:ln/>
        </p:spPr>
        <p:txBody>
          <a:bodyPr wrap="square" rtlCol="0" anchor="t"/>
          <a:lstStyle/>
          <a:p>
            <a:pPr algn="ctr" indent="0" marL="0">
              <a:buNone/>
            </a:pPr>
            <a:r>
              <a:rPr lang="en-US" sz="1500" b="1" dirty="0">
                <a:solidFill>
                  <a:srgbClr val="004976"/>
                </a:solidFill>
                <a:latin typeface="Roboto" pitchFamily="34" charset="0"/>
                <a:ea typeface="Roboto" pitchFamily="34" charset="-122"/>
                <a:cs typeface="Roboto" pitchFamily="34" charset="-120"/>
              </a:rPr>
              <a:t>Progress &amp; achievement</a:t>
            </a:r>
            <a:endParaRPr lang="en-US" sz="1500" dirty="0"/>
          </a:p>
        </p:txBody>
      </p:sp>
      <p:sp>
        <p:nvSpPr>
          <p:cNvPr id="17" name="Text 15"/>
          <p:cNvSpPr/>
          <p:nvPr/>
        </p:nvSpPr>
        <p:spPr>
          <a:xfrm>
            <a:off x="5190592" y="4114800"/>
            <a:ext cx="1810512" cy="1280160"/>
          </a:xfrm>
          <a:prstGeom prst="rect">
            <a:avLst/>
          </a:prstGeom>
          <a:noFill/>
          <a:ln/>
        </p:spPr>
        <p:txBody>
          <a:bodyPr wrap="square" rtlCol="0" anchor="t"/>
          <a:lstStyle/>
          <a:p>
            <a:pPr algn="ctr" indent="0" marL="0">
              <a:buNone/>
            </a:pPr>
            <a:r>
              <a:rPr lang="en-US" sz="1250" dirty="0">
                <a:solidFill>
                  <a:srgbClr val="444444"/>
                </a:solidFill>
                <a:latin typeface="Lato" pitchFamily="34" charset="0"/>
                <a:ea typeface="Lato" pitchFamily="34" charset="-122"/>
                <a:cs typeface="Lato" pitchFamily="34" charset="-120"/>
              </a:rPr>
              <a:t>Coaching through work, tracking, giving feedback.</a:t>
            </a:r>
            <a:endParaRPr lang="en-US" sz="1250" dirty="0"/>
          </a:p>
        </p:txBody>
      </p:sp>
      <p:sp>
        <p:nvSpPr>
          <p:cNvPr id="18" name="Shape 16"/>
          <p:cNvSpPr/>
          <p:nvPr/>
        </p:nvSpPr>
        <p:spPr>
          <a:xfrm>
            <a:off x="7412584" y="1783080"/>
            <a:ext cx="2084832" cy="3840480"/>
          </a:xfrm>
          <a:prstGeom prst="roundRect">
            <a:avLst>
              <a:gd name="adj" fmla="val 4386"/>
            </a:avLst>
          </a:prstGeom>
          <a:solidFill>
            <a:srgbClr val="F1F5F8"/>
          </a:solidFill>
          <a:ln w="12700">
            <a:solidFill>
              <a:srgbClr val="D8E2EA"/>
            </a:solidFill>
            <a:prstDash val="solid"/>
          </a:ln>
        </p:spPr>
      </p:sp>
      <p:sp>
        <p:nvSpPr>
          <p:cNvPr id="19" name="Shape 17"/>
          <p:cNvSpPr/>
          <p:nvPr/>
        </p:nvSpPr>
        <p:spPr>
          <a:xfrm>
            <a:off x="8070952" y="2103120"/>
            <a:ext cx="768096" cy="768096"/>
          </a:xfrm>
          <a:prstGeom prst="ellipse">
            <a:avLst/>
          </a:prstGeom>
          <a:solidFill>
            <a:srgbClr val="893B67"/>
          </a:solidFill>
          <a:ln/>
        </p:spPr>
      </p:sp>
      <p:sp>
        <p:nvSpPr>
          <p:cNvPr id="20" name="Text 18"/>
          <p:cNvSpPr/>
          <p:nvPr/>
        </p:nvSpPr>
        <p:spPr>
          <a:xfrm>
            <a:off x="8070952" y="2103120"/>
            <a:ext cx="768096" cy="768096"/>
          </a:xfrm>
          <a:prstGeom prst="rect">
            <a:avLst/>
          </a:prstGeom>
          <a:noFill/>
          <a:ln/>
        </p:spPr>
        <p:txBody>
          <a:bodyPr wrap="square" rtlCol="0" anchor="ctr"/>
          <a:lstStyle/>
          <a:p>
            <a:pPr algn="ctr" indent="0" marL="0">
              <a:buNone/>
            </a:pPr>
            <a:r>
              <a:rPr lang="en-US" sz="2600" b="1" dirty="0">
                <a:solidFill>
                  <a:srgbClr val="FFFFFF"/>
                </a:solidFill>
                <a:latin typeface="Roboto" pitchFamily="34" charset="0"/>
                <a:ea typeface="Roboto" pitchFamily="34" charset="-122"/>
                <a:cs typeface="Roboto" pitchFamily="34" charset="-120"/>
              </a:rPr>
              <a:t>4</a:t>
            </a:r>
            <a:endParaRPr lang="en-US" sz="2600" dirty="0"/>
          </a:p>
        </p:txBody>
      </p:sp>
      <p:sp>
        <p:nvSpPr>
          <p:cNvPr id="21" name="Text 19"/>
          <p:cNvSpPr/>
          <p:nvPr/>
        </p:nvSpPr>
        <p:spPr>
          <a:xfrm>
            <a:off x="7549744" y="3063240"/>
            <a:ext cx="1810512" cy="1005840"/>
          </a:xfrm>
          <a:prstGeom prst="rect">
            <a:avLst/>
          </a:prstGeom>
          <a:noFill/>
          <a:ln/>
        </p:spPr>
        <p:txBody>
          <a:bodyPr wrap="square" rtlCol="0" anchor="t"/>
          <a:lstStyle/>
          <a:p>
            <a:pPr algn="ctr" indent="0" marL="0">
              <a:buNone/>
            </a:pPr>
            <a:r>
              <a:rPr lang="en-US" sz="1500" b="1" dirty="0">
                <a:solidFill>
                  <a:srgbClr val="004976"/>
                </a:solidFill>
                <a:latin typeface="Roboto" pitchFamily="34" charset="0"/>
                <a:ea typeface="Roboto" pitchFamily="34" charset="-122"/>
                <a:cs typeface="Roboto" pitchFamily="34" charset="-120"/>
              </a:rPr>
              <a:t>Recognising &amp; evidencing growth</a:t>
            </a:r>
            <a:endParaRPr lang="en-US" sz="1500" dirty="0"/>
          </a:p>
        </p:txBody>
      </p:sp>
      <p:sp>
        <p:nvSpPr>
          <p:cNvPr id="22" name="Text 20"/>
          <p:cNvSpPr/>
          <p:nvPr/>
        </p:nvSpPr>
        <p:spPr>
          <a:xfrm>
            <a:off x="7549744" y="4114800"/>
            <a:ext cx="1810512" cy="1280160"/>
          </a:xfrm>
          <a:prstGeom prst="rect">
            <a:avLst/>
          </a:prstGeom>
          <a:noFill/>
          <a:ln/>
        </p:spPr>
        <p:txBody>
          <a:bodyPr wrap="square" rtlCol="0" anchor="t"/>
          <a:lstStyle/>
          <a:p>
            <a:pPr algn="ctr" indent="0" marL="0">
              <a:buNone/>
            </a:pPr>
            <a:r>
              <a:rPr lang="en-US" sz="1250" dirty="0">
                <a:solidFill>
                  <a:srgbClr val="444444"/>
                </a:solidFill>
                <a:latin typeface="Lato" pitchFamily="34" charset="0"/>
                <a:ea typeface="Lato" pitchFamily="34" charset="-122"/>
                <a:cs typeface="Lato" pitchFamily="34" charset="-120"/>
              </a:rPr>
              <a:t>Naming and evidencing skills, including from life.</a:t>
            </a:r>
            <a:endParaRPr lang="en-US" sz="1250" dirty="0"/>
          </a:p>
        </p:txBody>
      </p:sp>
      <p:sp>
        <p:nvSpPr>
          <p:cNvPr id="23" name="Shape 21"/>
          <p:cNvSpPr/>
          <p:nvPr/>
        </p:nvSpPr>
        <p:spPr>
          <a:xfrm>
            <a:off x="9771736" y="1783080"/>
            <a:ext cx="2084832" cy="3840480"/>
          </a:xfrm>
          <a:prstGeom prst="roundRect">
            <a:avLst>
              <a:gd name="adj" fmla="val 4386"/>
            </a:avLst>
          </a:prstGeom>
          <a:solidFill>
            <a:srgbClr val="F1F5F8"/>
          </a:solidFill>
          <a:ln w="12700">
            <a:solidFill>
              <a:srgbClr val="D8E2EA"/>
            </a:solidFill>
            <a:prstDash val="solid"/>
          </a:ln>
        </p:spPr>
      </p:sp>
      <p:sp>
        <p:nvSpPr>
          <p:cNvPr id="24" name="Shape 22"/>
          <p:cNvSpPr/>
          <p:nvPr/>
        </p:nvSpPr>
        <p:spPr>
          <a:xfrm>
            <a:off x="10430104" y="2103120"/>
            <a:ext cx="768096" cy="768096"/>
          </a:xfrm>
          <a:prstGeom prst="ellipse">
            <a:avLst/>
          </a:prstGeom>
          <a:solidFill>
            <a:srgbClr val="004976"/>
          </a:solidFill>
          <a:ln/>
        </p:spPr>
      </p:sp>
      <p:sp>
        <p:nvSpPr>
          <p:cNvPr id="25" name="Text 23"/>
          <p:cNvSpPr/>
          <p:nvPr/>
        </p:nvSpPr>
        <p:spPr>
          <a:xfrm>
            <a:off x="10430104" y="2103120"/>
            <a:ext cx="768096" cy="768096"/>
          </a:xfrm>
          <a:prstGeom prst="rect">
            <a:avLst/>
          </a:prstGeom>
          <a:noFill/>
          <a:ln/>
        </p:spPr>
        <p:txBody>
          <a:bodyPr wrap="square" rtlCol="0" anchor="ctr"/>
          <a:lstStyle/>
          <a:p>
            <a:pPr algn="ctr" indent="0" marL="0">
              <a:buNone/>
            </a:pPr>
            <a:r>
              <a:rPr lang="en-US" sz="2600" b="1" dirty="0">
                <a:solidFill>
                  <a:srgbClr val="FFFFFF"/>
                </a:solidFill>
                <a:latin typeface="Roboto" pitchFamily="34" charset="0"/>
                <a:ea typeface="Roboto" pitchFamily="34" charset="-122"/>
                <a:cs typeface="Roboto" pitchFamily="34" charset="-120"/>
              </a:rPr>
              <a:t>5</a:t>
            </a:r>
            <a:endParaRPr lang="en-US" sz="2600" dirty="0"/>
          </a:p>
        </p:txBody>
      </p:sp>
      <p:sp>
        <p:nvSpPr>
          <p:cNvPr id="26" name="Text 24"/>
          <p:cNvSpPr/>
          <p:nvPr/>
        </p:nvSpPr>
        <p:spPr>
          <a:xfrm>
            <a:off x="9908896" y="3063240"/>
            <a:ext cx="1810512" cy="1005840"/>
          </a:xfrm>
          <a:prstGeom prst="rect">
            <a:avLst/>
          </a:prstGeom>
          <a:noFill/>
          <a:ln/>
        </p:spPr>
        <p:txBody>
          <a:bodyPr wrap="square" rtlCol="0" anchor="t"/>
          <a:lstStyle/>
          <a:p>
            <a:pPr algn="ctr" indent="0" marL="0">
              <a:buNone/>
            </a:pPr>
            <a:r>
              <a:rPr lang="en-US" sz="1500" b="1" dirty="0">
                <a:solidFill>
                  <a:srgbClr val="004976"/>
                </a:solidFill>
                <a:latin typeface="Roboto" pitchFamily="34" charset="0"/>
                <a:ea typeface="Roboto" pitchFamily="34" charset="-122"/>
                <a:cs typeface="Roboto" pitchFamily="34" charset="-120"/>
              </a:rPr>
              <a:t>Pathways &amp; futures</a:t>
            </a:r>
            <a:endParaRPr lang="en-US" sz="1500" dirty="0"/>
          </a:p>
        </p:txBody>
      </p:sp>
      <p:sp>
        <p:nvSpPr>
          <p:cNvPr id="27" name="Text 25"/>
          <p:cNvSpPr/>
          <p:nvPr/>
        </p:nvSpPr>
        <p:spPr>
          <a:xfrm>
            <a:off x="9908896" y="4114800"/>
            <a:ext cx="1810512" cy="1280160"/>
          </a:xfrm>
          <a:prstGeom prst="rect">
            <a:avLst/>
          </a:prstGeom>
          <a:noFill/>
          <a:ln/>
        </p:spPr>
        <p:txBody>
          <a:bodyPr wrap="square" rtlCol="0" anchor="t"/>
          <a:lstStyle/>
          <a:p>
            <a:pPr algn="ctr" indent="0" marL="0">
              <a:buNone/>
            </a:pPr>
            <a:r>
              <a:rPr lang="en-US" sz="1250" dirty="0">
                <a:solidFill>
                  <a:srgbClr val="444444"/>
                </a:solidFill>
                <a:latin typeface="Lato" pitchFamily="34" charset="0"/>
                <a:ea typeface="Lato" pitchFamily="34" charset="-122"/>
                <a:cs typeface="Lato" pitchFamily="34" charset="-120"/>
              </a:rPr>
              <a:t>Towards study, work, or enterprise.</a:t>
            </a:r>
            <a:endParaRPr lang="en-US" sz="1250" dirty="0"/>
          </a:p>
        </p:txBody>
      </p:sp>
      <p:sp>
        <p:nvSpPr>
          <p:cNvPr id="28" name="Text 26"/>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4976"/>
        </a:solidFill>
      </p:bgPr>
    </p:bg>
    <p:spTree>
      <p:nvGrpSpPr>
        <p:cNvPr id="1" name=""/>
        <p:cNvGrpSpPr/>
        <p:nvPr/>
      </p:nvGrpSpPr>
      <p:grpSpPr>
        <a:xfrm>
          <a:off x="0" y="0"/>
          <a:ext cx="0" cy="0"/>
          <a:chOff x="0" y="0"/>
          <a:chExt cx="0" cy="0"/>
        </a:xfrm>
      </p:grpSpPr>
      <p:sp>
        <p:nvSpPr>
          <p:cNvPr id="2" name="Text 0"/>
          <p:cNvSpPr/>
          <p:nvPr/>
        </p:nvSpPr>
        <p:spPr>
          <a:xfrm>
            <a:off x="640080" y="548640"/>
            <a:ext cx="10911535" cy="82296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One decision runs under all of it</a:t>
            </a:r>
            <a:endParaRPr lang="en-US" sz="3400" dirty="0"/>
          </a:p>
        </p:txBody>
      </p:sp>
      <p:sp>
        <p:nvSpPr>
          <p:cNvPr id="3" name="Shape 1"/>
          <p:cNvSpPr/>
          <p:nvPr/>
        </p:nvSpPr>
        <p:spPr>
          <a:xfrm>
            <a:off x="1005840" y="2011680"/>
            <a:ext cx="4937760" cy="3017520"/>
          </a:xfrm>
          <a:prstGeom prst="roundRect">
            <a:avLst>
              <a:gd name="adj" fmla="val 3030"/>
            </a:avLst>
          </a:prstGeom>
          <a:solidFill>
            <a:srgbClr val="FFFFFF"/>
          </a:solidFill>
          <a:ln/>
        </p:spPr>
      </p:sp>
      <p:sp>
        <p:nvSpPr>
          <p:cNvPr id="4" name="Text 2"/>
          <p:cNvSpPr/>
          <p:nvPr/>
        </p:nvSpPr>
        <p:spPr>
          <a:xfrm>
            <a:off x="1371600" y="2377440"/>
            <a:ext cx="4206240" cy="640080"/>
          </a:xfrm>
          <a:prstGeom prst="rect">
            <a:avLst/>
          </a:prstGeom>
          <a:noFill/>
          <a:ln/>
        </p:spPr>
        <p:txBody>
          <a:bodyPr wrap="square" rtlCol="0" anchor="ctr"/>
          <a:lstStyle/>
          <a:p>
            <a:pPr indent="0" marL="0">
              <a:buNone/>
            </a:pPr>
            <a:r>
              <a:rPr lang="en-US" sz="2400" b="1" dirty="0">
                <a:solidFill>
                  <a:srgbClr val="8F993E"/>
                </a:solidFill>
                <a:latin typeface="Roboto" pitchFamily="34" charset="0"/>
                <a:ea typeface="Roboto" pitchFamily="34" charset="-122"/>
                <a:cs typeface="Roboto" pitchFamily="34" charset="-120"/>
              </a:rPr>
              <a:t>Coach, don’t rescue</a:t>
            </a:r>
            <a:endParaRPr lang="en-US" sz="2400" dirty="0"/>
          </a:p>
        </p:txBody>
      </p:sp>
      <p:sp>
        <p:nvSpPr>
          <p:cNvPr id="5" name="Text 3"/>
          <p:cNvSpPr/>
          <p:nvPr/>
        </p:nvSpPr>
        <p:spPr>
          <a:xfrm>
            <a:off x="1371600" y="3291840"/>
            <a:ext cx="4206240" cy="1371600"/>
          </a:xfrm>
          <a:prstGeom prst="rect">
            <a:avLst/>
          </a:prstGeom>
          <a:noFill/>
          <a:ln/>
        </p:spPr>
        <p:txBody>
          <a:bodyPr wrap="square" rtlCol="0" anchor="t"/>
          <a:lstStyle/>
          <a:p>
            <a:pPr indent="0" marL="0">
              <a:buNone/>
            </a:pPr>
            <a:r>
              <a:rPr lang="en-US" sz="1800" dirty="0">
                <a:solidFill>
                  <a:srgbClr val="222222"/>
                </a:solidFill>
                <a:latin typeface="Lato" pitchFamily="34" charset="0"/>
                <a:ea typeface="Lato" pitchFamily="34" charset="-122"/>
                <a:cs typeface="Lato" pitchFamily="34" charset="-120"/>
              </a:rPr>
              <a:t>Keep the mentee the author of their own way forward.</a:t>
            </a:r>
            <a:endParaRPr lang="en-US" sz="1800" dirty="0"/>
          </a:p>
        </p:txBody>
      </p:sp>
      <p:sp>
        <p:nvSpPr>
          <p:cNvPr id="6" name="Shape 4"/>
          <p:cNvSpPr/>
          <p:nvPr/>
        </p:nvSpPr>
        <p:spPr>
          <a:xfrm>
            <a:off x="6248095" y="2011680"/>
            <a:ext cx="4937760" cy="3017520"/>
          </a:xfrm>
          <a:prstGeom prst="roundRect">
            <a:avLst>
              <a:gd name="adj" fmla="val 3030"/>
            </a:avLst>
          </a:prstGeom>
          <a:solidFill>
            <a:srgbClr val="FFFFFF"/>
          </a:solidFill>
          <a:ln/>
        </p:spPr>
      </p:sp>
      <p:sp>
        <p:nvSpPr>
          <p:cNvPr id="7" name="Text 5"/>
          <p:cNvSpPr/>
          <p:nvPr/>
        </p:nvSpPr>
        <p:spPr>
          <a:xfrm>
            <a:off x="6613855" y="2377440"/>
            <a:ext cx="4206240" cy="640080"/>
          </a:xfrm>
          <a:prstGeom prst="rect">
            <a:avLst/>
          </a:prstGeom>
          <a:noFill/>
          <a:ln/>
        </p:spPr>
        <p:txBody>
          <a:bodyPr wrap="square" rtlCol="0" anchor="ctr"/>
          <a:lstStyle/>
          <a:p>
            <a:pPr indent="0" marL="0">
              <a:buNone/>
            </a:pPr>
            <a:r>
              <a:rPr lang="en-US" sz="2400" b="1" dirty="0">
                <a:solidFill>
                  <a:srgbClr val="EF9600"/>
                </a:solidFill>
                <a:latin typeface="Roboto" pitchFamily="34" charset="0"/>
                <a:ea typeface="Roboto" pitchFamily="34" charset="-122"/>
                <a:cs typeface="Roboto" pitchFamily="34" charset="-120"/>
              </a:rPr>
              <a:t>Know the limit, refer</a:t>
            </a:r>
            <a:endParaRPr lang="en-US" sz="2400" dirty="0"/>
          </a:p>
        </p:txBody>
      </p:sp>
      <p:sp>
        <p:nvSpPr>
          <p:cNvPr id="8" name="Text 6"/>
          <p:cNvSpPr/>
          <p:nvPr/>
        </p:nvSpPr>
        <p:spPr>
          <a:xfrm>
            <a:off x="6613855" y="3291840"/>
            <a:ext cx="4206240" cy="1371600"/>
          </a:xfrm>
          <a:prstGeom prst="rect">
            <a:avLst/>
          </a:prstGeom>
          <a:noFill/>
          <a:ln/>
        </p:spPr>
        <p:txBody>
          <a:bodyPr wrap="square" rtlCol="0" anchor="t"/>
          <a:lstStyle/>
          <a:p>
            <a:pPr indent="0" marL="0">
              <a:buNone/>
            </a:pPr>
            <a:r>
              <a:rPr lang="en-US" sz="1800" dirty="0">
                <a:solidFill>
                  <a:srgbClr val="222222"/>
                </a:solidFill>
                <a:latin typeface="Lato" pitchFamily="34" charset="0"/>
                <a:ea typeface="Lato" pitchFamily="34" charset="-122"/>
                <a:cs typeface="Lato" pitchFamily="34" charset="-120"/>
              </a:rPr>
              <a:t>Recognise when something needs more than mentoring, and act.</a:t>
            </a:r>
            <a:endParaRPr lang="en-US" sz="1800" dirty="0"/>
          </a:p>
        </p:txBody>
      </p:sp>
      <p:sp>
        <p:nvSpPr>
          <p:cNvPr id="9" name="Text 7"/>
          <p:cNvSpPr/>
          <p:nvPr/>
        </p:nvSpPr>
        <p:spPr>
          <a:xfrm>
            <a:off x="640080" y="5394960"/>
            <a:ext cx="10911535" cy="548640"/>
          </a:xfrm>
          <a:prstGeom prst="rect">
            <a:avLst/>
          </a:prstGeom>
          <a:noFill/>
          <a:ln/>
        </p:spPr>
        <p:txBody>
          <a:bodyPr wrap="square" rtlCol="0" anchor="ctr"/>
          <a:lstStyle/>
          <a:p>
            <a:pPr algn="ctr" indent="0" marL="0">
              <a:buNone/>
            </a:pPr>
            <a:r>
              <a:rPr lang="en-US" sz="2000" i="1" dirty="0">
                <a:solidFill>
                  <a:srgbClr val="F0B323"/>
                </a:solidFill>
                <a:latin typeface="Roboto" pitchFamily="34" charset="0"/>
                <a:ea typeface="Roboto" pitchFamily="34" charset="-122"/>
                <a:cs typeface="Roboto" pitchFamily="34" charset="-120"/>
              </a:rPr>
              <a:t>Every scenario turns on this.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Work it together: the demonstration scenario</a:t>
            </a:r>
            <a:endParaRPr lang="en-US" sz="3400" dirty="0"/>
          </a:p>
        </p:txBody>
      </p:sp>
      <p:sp>
        <p:nvSpPr>
          <p:cNvPr id="3" name="Shape 1"/>
          <p:cNvSpPr/>
          <p:nvPr/>
        </p:nvSpPr>
        <p:spPr>
          <a:xfrm>
            <a:off x="640080" y="1600200"/>
            <a:ext cx="10911535" cy="2743200"/>
          </a:xfrm>
          <a:prstGeom prst="roundRect">
            <a:avLst>
              <a:gd name="adj" fmla="val 2667"/>
            </a:avLst>
          </a:prstGeom>
          <a:solidFill>
            <a:srgbClr val="F1F5F8"/>
          </a:solidFill>
          <a:ln w="12700">
            <a:solidFill>
              <a:srgbClr val="D8E2EA"/>
            </a:solidFill>
            <a:prstDash val="solid"/>
          </a:ln>
        </p:spPr>
      </p:sp>
      <p:sp>
        <p:nvSpPr>
          <p:cNvPr id="4" name="Text 2"/>
          <p:cNvSpPr/>
          <p:nvPr/>
        </p:nvSpPr>
        <p:spPr>
          <a:xfrm>
            <a:off x="1005840" y="1874520"/>
            <a:ext cx="10180015" cy="2194560"/>
          </a:xfrm>
          <a:prstGeom prst="rect">
            <a:avLst/>
          </a:prstGeom>
          <a:noFill/>
          <a:ln/>
        </p:spPr>
        <p:txBody>
          <a:bodyPr wrap="square" rtlCol="0" anchor="t"/>
          <a:lstStyle/>
          <a:p>
            <a:pPr indent="0" marL="0">
              <a:buNone/>
            </a:pPr>
            <a:r>
              <a:rPr lang="en-US" sz="1800" dirty="0">
                <a:solidFill>
                  <a:srgbClr val="222222"/>
                </a:solidFill>
                <a:latin typeface="Lato" pitchFamily="34" charset="0"/>
                <a:ea typeface="Lato" pitchFamily="34" charset="-122"/>
                <a:cs typeface="Lato" pitchFamily="34" charset="-120"/>
              </a:rPr>
              <a:t>A mentee you have worked with for a few weeks arrives frustrated. A piece of work they care about is not coming together, and a deadline is close. They push it across the table and ask you to tell them what to change. You can see two or three things you would do differently, and it would be quick to point them out. The mentee looks deflated and short of time.</a:t>
            </a:r>
            <a:endParaRPr lang="en-US" sz="1800" dirty="0"/>
          </a:p>
        </p:txBody>
      </p:sp>
      <p:sp>
        <p:nvSpPr>
          <p:cNvPr id="5" name="Text 3"/>
          <p:cNvSpPr/>
          <p:nvPr/>
        </p:nvSpPr>
        <p:spPr>
          <a:xfrm>
            <a:off x="640080" y="4617720"/>
            <a:ext cx="10911535" cy="640080"/>
          </a:xfrm>
          <a:prstGeom prst="rect">
            <a:avLst/>
          </a:prstGeom>
          <a:noFill/>
          <a:ln/>
        </p:spPr>
        <p:txBody>
          <a:bodyPr wrap="square" rtlCol="0" anchor="ctr"/>
          <a:lstStyle/>
          <a:p>
            <a:pPr indent="0" marL="0">
              <a:buNone/>
            </a:pPr>
            <a:r>
              <a:rPr lang="en-US" sz="2200" b="1" dirty="0">
                <a:solidFill>
                  <a:srgbClr val="004976"/>
                </a:solidFill>
                <a:latin typeface="Roboto" pitchFamily="34" charset="0"/>
                <a:ea typeface="Roboto" pitchFamily="34" charset="-122"/>
                <a:cs typeface="Roboto" pitchFamily="34" charset="-120"/>
              </a:rPr>
              <a:t>What would you do in the next five minutes of this meeting?</a:t>
            </a:r>
            <a:endParaRPr lang="en-US" sz="2200" dirty="0"/>
          </a:p>
        </p:txBody>
      </p:sp>
      <p:sp>
        <p:nvSpPr>
          <p:cNvPr id="6" name="Text 4"/>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The coaching stance</a:t>
            </a:r>
            <a:endParaRPr lang="en-US" sz="3400" dirty="0"/>
          </a:p>
        </p:txBody>
      </p:sp>
      <p:sp>
        <p:nvSpPr>
          <p:cNvPr id="3" name="Shape 1"/>
          <p:cNvSpPr/>
          <p:nvPr/>
        </p:nvSpPr>
        <p:spPr>
          <a:xfrm>
            <a:off x="640080" y="1828800"/>
            <a:ext cx="256032" cy="256032"/>
          </a:xfrm>
          <a:prstGeom prst="ellipse">
            <a:avLst/>
          </a:prstGeom>
          <a:solidFill>
            <a:srgbClr val="8F993E"/>
          </a:solidFill>
          <a:ln/>
        </p:spPr>
      </p:sp>
      <p:sp>
        <p:nvSpPr>
          <p:cNvPr id="4" name="Text 2"/>
          <p:cNvSpPr/>
          <p:nvPr/>
        </p:nvSpPr>
        <p:spPr>
          <a:xfrm>
            <a:off x="1188720" y="1691640"/>
            <a:ext cx="103628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Hand the thinking back: name where they are stuck, weigh options, choose a next step.</a:t>
            </a:r>
            <a:endParaRPr lang="en-US" sz="1900" dirty="0"/>
          </a:p>
        </p:txBody>
      </p:sp>
      <p:sp>
        <p:nvSpPr>
          <p:cNvPr id="5" name="Shape 3"/>
          <p:cNvSpPr/>
          <p:nvPr/>
        </p:nvSpPr>
        <p:spPr>
          <a:xfrm>
            <a:off x="640080" y="2788920"/>
            <a:ext cx="256032" cy="256032"/>
          </a:xfrm>
          <a:prstGeom prst="ellipse">
            <a:avLst/>
          </a:prstGeom>
          <a:solidFill>
            <a:srgbClr val="8F993E"/>
          </a:solidFill>
          <a:ln/>
        </p:spPr>
      </p:sp>
      <p:sp>
        <p:nvSpPr>
          <p:cNvPr id="6" name="Text 4"/>
          <p:cNvSpPr/>
          <p:nvPr/>
        </p:nvSpPr>
        <p:spPr>
          <a:xfrm>
            <a:off x="1188720" y="2651760"/>
            <a:ext cx="103628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Offer tools as options, not instructions.</a:t>
            </a:r>
            <a:endParaRPr lang="en-US" sz="1900" dirty="0"/>
          </a:p>
        </p:txBody>
      </p:sp>
      <p:sp>
        <p:nvSpPr>
          <p:cNvPr id="7" name="Shape 5"/>
          <p:cNvSpPr/>
          <p:nvPr/>
        </p:nvSpPr>
        <p:spPr>
          <a:xfrm>
            <a:off x="640080" y="3749040"/>
            <a:ext cx="256032" cy="256032"/>
          </a:xfrm>
          <a:prstGeom prst="ellipse">
            <a:avLst/>
          </a:prstGeom>
          <a:solidFill>
            <a:srgbClr val="8F993E"/>
          </a:solidFill>
          <a:ln/>
        </p:spPr>
      </p:sp>
      <p:sp>
        <p:nvSpPr>
          <p:cNvPr id="8" name="Text 6"/>
          <p:cNvSpPr/>
          <p:nvPr/>
        </p:nvSpPr>
        <p:spPr>
          <a:xfrm>
            <a:off x="1188720" y="3611880"/>
            <a:ext cx="10362895" cy="640080"/>
          </a:xfrm>
          <a:prstGeom prst="rect">
            <a:avLst/>
          </a:prstGeom>
          <a:noFill/>
          <a:ln/>
        </p:spPr>
        <p:txBody>
          <a:bodyPr wrap="square" rtlCol="0" anchor="ctr"/>
          <a:lstStyle/>
          <a:p>
            <a:pPr indent="0" marL="0">
              <a:buNone/>
            </a:pPr>
            <a:r>
              <a:rPr lang="en-US" sz="1900" dirty="0">
                <a:solidFill>
                  <a:srgbClr val="222222"/>
                </a:solidFill>
                <a:latin typeface="Lato" pitchFamily="34" charset="0"/>
                <a:ea typeface="Lato" pitchFamily="34" charset="-122"/>
                <a:cs typeface="Lato" pitchFamily="34" charset="-120"/>
              </a:rPr>
              <a:t>A fix you hand over is one they cannot repeat when you are not there.</a:t>
            </a:r>
            <a:endParaRPr lang="en-US" sz="1900" dirty="0"/>
          </a:p>
        </p:txBody>
      </p:sp>
      <p:sp>
        <p:nvSpPr>
          <p:cNvPr id="9" name="Text 7"/>
          <p:cNvSpPr/>
          <p:nvPr/>
        </p:nvSpPr>
        <p:spPr>
          <a:xfrm>
            <a:off x="640080" y="5029200"/>
            <a:ext cx="10911535" cy="548640"/>
          </a:xfrm>
          <a:prstGeom prst="rect">
            <a:avLst/>
          </a:prstGeom>
          <a:noFill/>
          <a:ln/>
        </p:spPr>
        <p:txBody>
          <a:bodyPr wrap="square" rtlCol="0" anchor="ctr"/>
          <a:lstStyle/>
          <a:p>
            <a:pPr indent="0" marL="0">
              <a:buNone/>
            </a:pPr>
            <a:r>
              <a:rPr lang="en-US" sz="2400" b="1" i="1" dirty="0">
                <a:solidFill>
                  <a:srgbClr val="8F993E"/>
                </a:solidFill>
                <a:latin typeface="Roboto" pitchFamily="34" charset="0"/>
                <a:ea typeface="Roboto" pitchFamily="34" charset="-122"/>
                <a:cs typeface="Roboto" pitchFamily="34" charset="-120"/>
              </a:rPr>
              <a:t>Doing less is doing more.</a:t>
            </a:r>
            <a:endParaRPr lang="en-US" sz="2400" dirty="0"/>
          </a:p>
        </p:txBody>
      </p:sp>
      <p:sp>
        <p:nvSpPr>
          <p:cNvPr id="10" name="Text 8"/>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Share your learner</a:t>
            </a:r>
            <a:endParaRPr lang="en-US" sz="3400" dirty="0"/>
          </a:p>
        </p:txBody>
      </p:sp>
      <p:sp>
        <p:nvSpPr>
          <p:cNvPr id="3" name="Text 1"/>
          <p:cNvSpPr/>
          <p:nvPr/>
        </p:nvSpPr>
        <p:spPr>
          <a:xfrm>
            <a:off x="640080" y="1828800"/>
            <a:ext cx="10911535" cy="1463040"/>
          </a:xfrm>
          <a:prstGeom prst="rect">
            <a:avLst/>
          </a:prstGeom>
          <a:noFill/>
          <a:ln/>
        </p:spPr>
        <p:txBody>
          <a:bodyPr wrap="square" rtlCol="0" anchor="t"/>
          <a:lstStyle/>
          <a:p>
            <a:pPr indent="0" marL="0">
              <a:buNone/>
            </a:pPr>
            <a:r>
              <a:rPr lang="en-US" sz="2000" dirty="0">
                <a:solidFill>
                  <a:srgbClr val="222222"/>
                </a:solidFill>
                <a:latin typeface="Lato" pitchFamily="34" charset="0"/>
                <a:ea typeface="Lato" pitchFamily="34" charset="-122"/>
                <a:cs typeface="Lato" pitchFamily="34" charset="-120"/>
              </a:rPr>
              <a:t>In pairs, talk through the learner you are planning for. What matters to them? Where are they now, in their learning and more widely?</a:t>
            </a:r>
            <a:endParaRPr lang="en-US" sz="2000" dirty="0"/>
          </a:p>
        </p:txBody>
      </p:sp>
      <p:sp>
        <p:nvSpPr>
          <p:cNvPr id="4" name="Shape 2"/>
          <p:cNvSpPr/>
          <p:nvPr/>
        </p:nvSpPr>
        <p:spPr>
          <a:xfrm>
            <a:off x="640080" y="3657600"/>
            <a:ext cx="10911535" cy="914400"/>
          </a:xfrm>
          <a:prstGeom prst="roundRect">
            <a:avLst>
              <a:gd name="adj" fmla="val 8000"/>
            </a:avLst>
          </a:prstGeom>
          <a:solidFill>
            <a:srgbClr val="FBF3DA"/>
          </a:solidFill>
          <a:ln w="12700">
            <a:solidFill>
              <a:srgbClr val="F0B323"/>
            </a:solidFill>
            <a:prstDash val="solid"/>
          </a:ln>
        </p:spPr>
      </p:sp>
      <p:sp>
        <p:nvSpPr>
          <p:cNvPr id="5" name="Text 3"/>
          <p:cNvSpPr/>
          <p:nvPr/>
        </p:nvSpPr>
        <p:spPr>
          <a:xfrm>
            <a:off x="1005840" y="3657600"/>
            <a:ext cx="10180015" cy="914400"/>
          </a:xfrm>
          <a:prstGeom prst="rect">
            <a:avLst/>
          </a:prstGeom>
          <a:noFill/>
          <a:ln/>
        </p:spPr>
        <p:txBody>
          <a:bodyPr wrap="square" rtlCol="0" anchor="ctr"/>
          <a:lstStyle/>
          <a:p>
            <a:pPr indent="0" marL="0">
              <a:buNone/>
            </a:pPr>
            <a:r>
              <a:rPr lang="en-US" sz="1800" b="1" dirty="0">
                <a:solidFill>
                  <a:srgbClr val="7A5B12"/>
                </a:solidFill>
                <a:latin typeface="Roboto" pitchFamily="34" charset="0"/>
                <a:ea typeface="Roboto" pitchFamily="34" charset="-122"/>
                <a:cs typeface="Roboto" pitchFamily="34" charset="-120"/>
              </a:rPr>
              <a:t>Initials or codes only. No identifying details.</a:t>
            </a:r>
            <a:endParaRPr lang="en-US" sz="1800" dirty="0"/>
          </a:p>
        </p:txBody>
      </p:sp>
      <p:sp>
        <p:nvSpPr>
          <p:cNvPr id="6" name="Text 4"/>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4976"/>
        </a:solidFill>
      </p:bgPr>
    </p:bg>
    <p:spTree>
      <p:nvGrpSpPr>
        <p:cNvPr id="1" name=""/>
        <p:cNvGrpSpPr/>
        <p:nvPr/>
      </p:nvGrpSpPr>
      <p:grpSpPr>
        <a:xfrm>
          <a:off x="0" y="0"/>
          <a:ext cx="0" cy="0"/>
          <a:chOff x="0" y="0"/>
          <a:chExt cx="0" cy="0"/>
        </a:xfrm>
      </p:grpSpPr>
      <p:sp>
        <p:nvSpPr>
          <p:cNvPr id="2" name="Text 0"/>
          <p:cNvSpPr/>
          <p:nvPr/>
        </p:nvSpPr>
        <p:spPr>
          <a:xfrm>
            <a:off x="640080" y="640080"/>
            <a:ext cx="10058400" cy="457200"/>
          </a:xfrm>
          <a:prstGeom prst="rect">
            <a:avLst/>
          </a:prstGeom>
          <a:noFill/>
          <a:ln/>
        </p:spPr>
        <p:txBody>
          <a:bodyPr wrap="square" rtlCol="0" anchor="ctr"/>
          <a:lstStyle/>
          <a:p>
            <a:pPr indent="0" marL="0">
              <a:buNone/>
            </a:pPr>
            <a:r>
              <a:rPr lang="en-US" sz="2200" b="1" dirty="0">
                <a:solidFill>
                  <a:srgbClr val="F0B323"/>
                </a:solidFill>
                <a:latin typeface="Roboto" pitchFamily="34" charset="0"/>
                <a:ea typeface="Roboto" pitchFamily="34" charset="-122"/>
                <a:cs typeface="Roboto" pitchFamily="34" charset="-120"/>
              </a:rPr>
              <a:t>Before Session 2</a:t>
            </a:r>
            <a:endParaRPr lang="en-US" sz="2200" dirty="0"/>
          </a:p>
        </p:txBody>
      </p:sp>
      <p:sp>
        <p:nvSpPr>
          <p:cNvPr id="3" name="Text 1"/>
          <p:cNvSpPr/>
          <p:nvPr/>
        </p:nvSpPr>
        <p:spPr>
          <a:xfrm>
            <a:off x="640080" y="1143000"/>
            <a:ext cx="10515600" cy="914400"/>
          </a:xfrm>
          <a:prstGeom prst="rect">
            <a:avLst/>
          </a:prstGeom>
          <a:noFill/>
          <a:ln/>
        </p:spPr>
        <p:txBody>
          <a:bodyPr wrap="square" rtlCol="0" anchor="ctr"/>
          <a:lstStyle/>
          <a:p>
            <a:pPr indent="0" marL="0">
              <a:buNone/>
            </a:pPr>
            <a:r>
              <a:rPr lang="en-US" sz="3800" b="1" dirty="0">
                <a:solidFill>
                  <a:srgbClr val="FFFFFF"/>
                </a:solidFill>
                <a:latin typeface="Roboto" pitchFamily="34" charset="0"/>
                <a:ea typeface="Roboto" pitchFamily="34" charset="-122"/>
                <a:cs typeface="Roboto" pitchFamily="34" charset="-120"/>
              </a:rPr>
              <a:t>Independent Work 1</a:t>
            </a:r>
            <a:endParaRPr lang="en-US" sz="3800" dirty="0"/>
          </a:p>
        </p:txBody>
      </p:sp>
      <p:sp>
        <p:nvSpPr>
          <p:cNvPr id="4" name="Shape 2"/>
          <p:cNvSpPr/>
          <p:nvPr/>
        </p:nvSpPr>
        <p:spPr>
          <a:xfrm>
            <a:off x="640080" y="2862072"/>
            <a:ext cx="274320" cy="274320"/>
          </a:xfrm>
          <a:prstGeom prst="ellipse">
            <a:avLst/>
          </a:prstGeom>
          <a:solidFill>
            <a:srgbClr val="F0B323"/>
          </a:solidFill>
          <a:ln/>
        </p:spPr>
      </p:sp>
      <p:sp>
        <p:nvSpPr>
          <p:cNvPr id="5" name="Text 3"/>
          <p:cNvSpPr/>
          <p:nvPr/>
        </p:nvSpPr>
        <p:spPr>
          <a:xfrm>
            <a:off x="1188720" y="2697480"/>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Complete Section 1 of your Mentoring Plan and Record.</a:t>
            </a:r>
            <a:endParaRPr lang="en-US" sz="1900" dirty="0"/>
          </a:p>
        </p:txBody>
      </p:sp>
      <p:sp>
        <p:nvSpPr>
          <p:cNvPr id="6" name="Shape 4"/>
          <p:cNvSpPr/>
          <p:nvPr/>
        </p:nvSpPr>
        <p:spPr>
          <a:xfrm>
            <a:off x="640080" y="3776472"/>
            <a:ext cx="274320" cy="274320"/>
          </a:xfrm>
          <a:prstGeom prst="ellipse">
            <a:avLst/>
          </a:prstGeom>
          <a:solidFill>
            <a:srgbClr val="F0B323"/>
          </a:solidFill>
          <a:ln/>
        </p:spPr>
      </p:sp>
      <p:sp>
        <p:nvSpPr>
          <p:cNvPr id="7" name="Text 5"/>
          <p:cNvSpPr/>
          <p:nvPr/>
        </p:nvSpPr>
        <p:spPr>
          <a:xfrm>
            <a:off x="1188720" y="3611880"/>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Build your plan across the five parts (Section 3).</a:t>
            </a:r>
            <a:endParaRPr lang="en-US" sz="1900" dirty="0"/>
          </a:p>
        </p:txBody>
      </p:sp>
      <p:sp>
        <p:nvSpPr>
          <p:cNvPr id="8" name="Shape 6"/>
          <p:cNvSpPr/>
          <p:nvPr/>
        </p:nvSpPr>
        <p:spPr>
          <a:xfrm>
            <a:off x="640080" y="4690872"/>
            <a:ext cx="274320" cy="274320"/>
          </a:xfrm>
          <a:prstGeom prst="ellipse">
            <a:avLst/>
          </a:prstGeom>
          <a:solidFill>
            <a:srgbClr val="F0B323"/>
          </a:solidFill>
          <a:ln/>
        </p:spPr>
      </p:sp>
      <p:sp>
        <p:nvSpPr>
          <p:cNvPr id="9" name="Text 7"/>
          <p:cNvSpPr/>
          <p:nvPr/>
        </p:nvSpPr>
        <p:spPr>
          <a:xfrm>
            <a:off x="1188720" y="4526280"/>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Write your responses to the assessment scenarios.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976"/>
        </a:solidFill>
      </p:bgPr>
    </p:bg>
    <p:spTree>
      <p:nvGrpSpPr>
        <p:cNvPr id="1" name=""/>
        <p:cNvGrpSpPr/>
        <p:nvPr/>
      </p:nvGrpSpPr>
      <p:grpSpPr>
        <a:xfrm>
          <a:off x="0" y="0"/>
          <a:ext cx="0" cy="0"/>
          <a:chOff x="0" y="0"/>
          <a:chExt cx="0" cy="0"/>
        </a:xfrm>
      </p:grpSpPr>
      <p:sp>
        <p:nvSpPr>
          <p:cNvPr id="2" name="Shape 0"/>
          <p:cNvSpPr/>
          <p:nvPr/>
        </p:nvSpPr>
        <p:spPr>
          <a:xfrm>
            <a:off x="-1005840" y="4937760"/>
            <a:ext cx="2743200" cy="2743200"/>
          </a:xfrm>
          <a:prstGeom prst="ellipse">
            <a:avLst/>
          </a:prstGeom>
          <a:solidFill>
            <a:srgbClr val="8F993E">
              <a:alpha val="28000"/>
            </a:srgbClr>
          </a:solidFill>
          <a:ln/>
        </p:spPr>
      </p:sp>
      <p:sp>
        <p:nvSpPr>
          <p:cNvPr id="3" name="Text 1"/>
          <p:cNvSpPr/>
          <p:nvPr/>
        </p:nvSpPr>
        <p:spPr>
          <a:xfrm>
            <a:off x="640080" y="2468880"/>
            <a:ext cx="10058400" cy="457200"/>
          </a:xfrm>
          <a:prstGeom prst="rect">
            <a:avLst/>
          </a:prstGeom>
          <a:noFill/>
          <a:ln/>
        </p:spPr>
        <p:txBody>
          <a:bodyPr wrap="square" rtlCol="0" anchor="ctr"/>
          <a:lstStyle/>
          <a:p>
            <a:pPr indent="0" marL="0">
              <a:buNone/>
            </a:pPr>
            <a:r>
              <a:rPr lang="en-US" sz="2200" b="1" dirty="0">
                <a:solidFill>
                  <a:srgbClr val="F0B323"/>
                </a:solidFill>
                <a:latin typeface="Roboto" pitchFamily="34" charset="0"/>
                <a:ea typeface="Roboto" pitchFamily="34" charset="-122"/>
                <a:cs typeface="Roboto" pitchFamily="34" charset="-120"/>
              </a:rPr>
              <a:t>Session 2</a:t>
            </a:r>
            <a:endParaRPr lang="en-US" sz="2200" dirty="0"/>
          </a:p>
        </p:txBody>
      </p:sp>
      <p:sp>
        <p:nvSpPr>
          <p:cNvPr id="4" name="Text 2"/>
          <p:cNvSpPr/>
          <p:nvPr/>
        </p:nvSpPr>
        <p:spPr>
          <a:xfrm>
            <a:off x="640080" y="2971800"/>
            <a:ext cx="10515600" cy="1097280"/>
          </a:xfrm>
          <a:prstGeom prst="rect">
            <a:avLst/>
          </a:prstGeom>
          <a:noFill/>
          <a:ln/>
        </p:spPr>
        <p:txBody>
          <a:bodyPr wrap="square" rtlCol="0" anchor="ctr"/>
          <a:lstStyle/>
          <a:p>
            <a:pPr indent="0" marL="0">
              <a:buNone/>
            </a:pPr>
            <a:r>
              <a:rPr lang="en-US" sz="3800" b="1" dirty="0">
                <a:solidFill>
                  <a:srgbClr val="FFFFFF"/>
                </a:solidFill>
                <a:latin typeface="Roboto" pitchFamily="34" charset="0"/>
                <a:ea typeface="Roboto" pitchFamily="34" charset="-122"/>
                <a:cs typeface="Roboto" pitchFamily="34" charset="-120"/>
              </a:rPr>
              <a:t>Feedback, calibration, and submission</a:t>
            </a:r>
            <a:endParaRPr lang="en-US" sz="3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Peer feedback protocol</a:t>
            </a:r>
            <a:endParaRPr lang="en-US" sz="3400" dirty="0"/>
          </a:p>
        </p:txBody>
      </p:sp>
      <p:sp>
        <p:nvSpPr>
          <p:cNvPr id="3" name="Shape 1"/>
          <p:cNvSpPr/>
          <p:nvPr/>
        </p:nvSpPr>
        <p:spPr>
          <a:xfrm>
            <a:off x="640080" y="1645920"/>
            <a:ext cx="457200" cy="457200"/>
          </a:xfrm>
          <a:prstGeom prst="ellipse">
            <a:avLst/>
          </a:prstGeom>
          <a:solidFill>
            <a:srgbClr val="004976"/>
          </a:solidFill>
          <a:ln/>
        </p:spPr>
      </p:sp>
      <p:sp>
        <p:nvSpPr>
          <p:cNvPr id="4" name="Text 2"/>
          <p:cNvSpPr/>
          <p:nvPr/>
        </p:nvSpPr>
        <p:spPr>
          <a:xfrm>
            <a:off x="640080" y="1645920"/>
            <a:ext cx="457200" cy="457200"/>
          </a:xfrm>
          <a:prstGeom prst="rect">
            <a:avLst/>
          </a:prstGeom>
          <a:noFill/>
          <a:ln/>
        </p:spPr>
        <p:txBody>
          <a:bodyPr wrap="square"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5" name="Text 3"/>
          <p:cNvSpPr/>
          <p:nvPr/>
        </p:nvSpPr>
        <p:spPr>
          <a:xfrm>
            <a:off x="1325880" y="1645920"/>
            <a:ext cx="5943600" cy="457200"/>
          </a:xfrm>
          <a:prstGeom prst="rect">
            <a:avLst/>
          </a:prstGeom>
          <a:noFill/>
          <a:ln/>
        </p:spPr>
        <p:txBody>
          <a:bodyPr wrap="square" rtlCol="0" anchor="ctr"/>
          <a:lstStyle/>
          <a:p>
            <a:pPr indent="0" marL="0">
              <a:buNone/>
            </a:pPr>
            <a:r>
              <a:rPr lang="en-US" sz="1800" b="1" dirty="0">
                <a:solidFill>
                  <a:srgbClr val="004976"/>
                </a:solidFill>
                <a:latin typeface="Roboto" pitchFamily="34" charset="0"/>
                <a:ea typeface="Roboto" pitchFamily="34" charset="-122"/>
                <a:cs typeface="Roboto" pitchFamily="34" charset="-120"/>
              </a:rPr>
              <a:t>Presenter shares</a:t>
            </a:r>
            <a:endParaRPr lang="en-US" sz="1800" dirty="0"/>
          </a:p>
        </p:txBody>
      </p:sp>
      <p:sp>
        <p:nvSpPr>
          <p:cNvPr id="6" name="Text 4"/>
          <p:cNvSpPr/>
          <p:nvPr/>
        </p:nvSpPr>
        <p:spPr>
          <a:xfrm>
            <a:off x="7040880" y="1645920"/>
            <a:ext cx="1371600" cy="457200"/>
          </a:xfrm>
          <a:prstGeom prst="rect">
            <a:avLst/>
          </a:prstGeom>
          <a:noFill/>
          <a:ln/>
        </p:spPr>
        <p:txBody>
          <a:bodyPr wrap="square" rtlCol="0" anchor="ctr"/>
          <a:lstStyle/>
          <a:p>
            <a:pPr indent="0" marL="0">
              <a:buNone/>
            </a:pPr>
            <a:r>
              <a:rPr lang="en-US" sz="1600" dirty="0">
                <a:solidFill>
                  <a:srgbClr val="97999B"/>
                </a:solidFill>
                <a:latin typeface="Lato" pitchFamily="34" charset="0"/>
                <a:ea typeface="Lato" pitchFamily="34" charset="-122"/>
                <a:cs typeface="Lato" pitchFamily="34" charset="-120"/>
              </a:rPr>
              <a:t>5 min</a:t>
            </a:r>
            <a:endParaRPr lang="en-US" sz="1600" dirty="0"/>
          </a:p>
        </p:txBody>
      </p:sp>
      <p:sp>
        <p:nvSpPr>
          <p:cNvPr id="7" name="Shape 5"/>
          <p:cNvSpPr/>
          <p:nvPr/>
        </p:nvSpPr>
        <p:spPr>
          <a:xfrm>
            <a:off x="640080" y="2304288"/>
            <a:ext cx="457200" cy="457200"/>
          </a:xfrm>
          <a:prstGeom prst="ellipse">
            <a:avLst/>
          </a:prstGeom>
          <a:solidFill>
            <a:srgbClr val="004976"/>
          </a:solidFill>
          <a:ln/>
        </p:spPr>
      </p:sp>
      <p:sp>
        <p:nvSpPr>
          <p:cNvPr id="8" name="Text 6"/>
          <p:cNvSpPr/>
          <p:nvPr/>
        </p:nvSpPr>
        <p:spPr>
          <a:xfrm>
            <a:off x="640080" y="2304288"/>
            <a:ext cx="457200" cy="457200"/>
          </a:xfrm>
          <a:prstGeom prst="rect">
            <a:avLst/>
          </a:prstGeom>
          <a:noFill/>
          <a:ln/>
        </p:spPr>
        <p:txBody>
          <a:bodyPr wrap="square"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9" name="Text 7"/>
          <p:cNvSpPr/>
          <p:nvPr/>
        </p:nvSpPr>
        <p:spPr>
          <a:xfrm>
            <a:off x="1325880" y="2304288"/>
            <a:ext cx="5943600" cy="457200"/>
          </a:xfrm>
          <a:prstGeom prst="rect">
            <a:avLst/>
          </a:prstGeom>
          <a:noFill/>
          <a:ln/>
        </p:spPr>
        <p:txBody>
          <a:bodyPr wrap="square" rtlCol="0" anchor="ctr"/>
          <a:lstStyle/>
          <a:p>
            <a:pPr indent="0" marL="0">
              <a:buNone/>
            </a:pPr>
            <a:r>
              <a:rPr lang="en-US" sz="1800" b="1" dirty="0">
                <a:solidFill>
                  <a:srgbClr val="004976"/>
                </a:solidFill>
                <a:latin typeface="Roboto" pitchFamily="34" charset="0"/>
                <a:ea typeface="Roboto" pitchFamily="34" charset="-122"/>
                <a:cs typeface="Roboto" pitchFamily="34" charset="-120"/>
              </a:rPr>
              <a:t>Clarifying questions</a:t>
            </a:r>
            <a:endParaRPr lang="en-US" sz="1800" dirty="0"/>
          </a:p>
        </p:txBody>
      </p:sp>
      <p:sp>
        <p:nvSpPr>
          <p:cNvPr id="10" name="Text 8"/>
          <p:cNvSpPr/>
          <p:nvPr/>
        </p:nvSpPr>
        <p:spPr>
          <a:xfrm>
            <a:off x="7040880" y="2304288"/>
            <a:ext cx="1371600" cy="457200"/>
          </a:xfrm>
          <a:prstGeom prst="rect">
            <a:avLst/>
          </a:prstGeom>
          <a:noFill/>
          <a:ln/>
        </p:spPr>
        <p:txBody>
          <a:bodyPr wrap="square" rtlCol="0" anchor="ctr"/>
          <a:lstStyle/>
          <a:p>
            <a:pPr indent="0" marL="0">
              <a:buNone/>
            </a:pPr>
            <a:r>
              <a:rPr lang="en-US" sz="1600" dirty="0">
                <a:solidFill>
                  <a:srgbClr val="97999B"/>
                </a:solidFill>
                <a:latin typeface="Lato" pitchFamily="34" charset="0"/>
                <a:ea typeface="Lato" pitchFamily="34" charset="-122"/>
                <a:cs typeface="Lato" pitchFamily="34" charset="-120"/>
              </a:rPr>
              <a:t>3 min</a:t>
            </a:r>
            <a:endParaRPr lang="en-US" sz="1600" dirty="0"/>
          </a:p>
        </p:txBody>
      </p:sp>
      <p:sp>
        <p:nvSpPr>
          <p:cNvPr id="11" name="Shape 9"/>
          <p:cNvSpPr/>
          <p:nvPr/>
        </p:nvSpPr>
        <p:spPr>
          <a:xfrm>
            <a:off x="640080" y="2962656"/>
            <a:ext cx="457200" cy="457200"/>
          </a:xfrm>
          <a:prstGeom prst="ellipse">
            <a:avLst/>
          </a:prstGeom>
          <a:solidFill>
            <a:srgbClr val="004976"/>
          </a:solidFill>
          <a:ln/>
        </p:spPr>
      </p:sp>
      <p:sp>
        <p:nvSpPr>
          <p:cNvPr id="12" name="Text 10"/>
          <p:cNvSpPr/>
          <p:nvPr/>
        </p:nvSpPr>
        <p:spPr>
          <a:xfrm>
            <a:off x="640080" y="2962656"/>
            <a:ext cx="457200" cy="457200"/>
          </a:xfrm>
          <a:prstGeom prst="rect">
            <a:avLst/>
          </a:prstGeom>
          <a:noFill/>
          <a:ln/>
        </p:spPr>
        <p:txBody>
          <a:bodyPr wrap="square"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13" name="Text 11"/>
          <p:cNvSpPr/>
          <p:nvPr/>
        </p:nvSpPr>
        <p:spPr>
          <a:xfrm>
            <a:off x="1325880" y="2962656"/>
            <a:ext cx="5943600" cy="457200"/>
          </a:xfrm>
          <a:prstGeom prst="rect">
            <a:avLst/>
          </a:prstGeom>
          <a:noFill/>
          <a:ln/>
        </p:spPr>
        <p:txBody>
          <a:bodyPr wrap="square" rtlCol="0" anchor="ctr"/>
          <a:lstStyle/>
          <a:p>
            <a:pPr indent="0" marL="0">
              <a:buNone/>
            </a:pPr>
            <a:r>
              <a:rPr lang="en-US" sz="1800" b="1" dirty="0">
                <a:solidFill>
                  <a:srgbClr val="004976"/>
                </a:solidFill>
                <a:latin typeface="Roboto" pitchFamily="34" charset="0"/>
                <a:ea typeface="Roboto" pitchFamily="34" charset="-122"/>
                <a:cs typeface="Roboto" pitchFamily="34" charset="-120"/>
              </a:rPr>
              <a:t>Warm feedback</a:t>
            </a:r>
            <a:endParaRPr lang="en-US" sz="1800" dirty="0"/>
          </a:p>
        </p:txBody>
      </p:sp>
      <p:sp>
        <p:nvSpPr>
          <p:cNvPr id="14" name="Text 12"/>
          <p:cNvSpPr/>
          <p:nvPr/>
        </p:nvSpPr>
        <p:spPr>
          <a:xfrm>
            <a:off x="7040880" y="2962656"/>
            <a:ext cx="1371600" cy="457200"/>
          </a:xfrm>
          <a:prstGeom prst="rect">
            <a:avLst/>
          </a:prstGeom>
          <a:noFill/>
          <a:ln/>
        </p:spPr>
        <p:txBody>
          <a:bodyPr wrap="square" rtlCol="0" anchor="ctr"/>
          <a:lstStyle/>
          <a:p>
            <a:pPr indent="0" marL="0">
              <a:buNone/>
            </a:pPr>
            <a:r>
              <a:rPr lang="en-US" sz="1600" dirty="0">
                <a:solidFill>
                  <a:srgbClr val="97999B"/>
                </a:solidFill>
                <a:latin typeface="Lato" pitchFamily="34" charset="0"/>
                <a:ea typeface="Lato" pitchFamily="34" charset="-122"/>
                <a:cs typeface="Lato" pitchFamily="34" charset="-120"/>
              </a:rPr>
              <a:t>4 min</a:t>
            </a:r>
            <a:endParaRPr lang="en-US" sz="1600" dirty="0"/>
          </a:p>
        </p:txBody>
      </p:sp>
      <p:sp>
        <p:nvSpPr>
          <p:cNvPr id="15" name="Shape 13"/>
          <p:cNvSpPr/>
          <p:nvPr/>
        </p:nvSpPr>
        <p:spPr>
          <a:xfrm>
            <a:off x="640080" y="3621024"/>
            <a:ext cx="457200" cy="457200"/>
          </a:xfrm>
          <a:prstGeom prst="ellipse">
            <a:avLst/>
          </a:prstGeom>
          <a:solidFill>
            <a:srgbClr val="004976"/>
          </a:solidFill>
          <a:ln/>
        </p:spPr>
      </p:sp>
      <p:sp>
        <p:nvSpPr>
          <p:cNvPr id="16" name="Text 14"/>
          <p:cNvSpPr/>
          <p:nvPr/>
        </p:nvSpPr>
        <p:spPr>
          <a:xfrm>
            <a:off x="640080" y="3621024"/>
            <a:ext cx="457200" cy="457200"/>
          </a:xfrm>
          <a:prstGeom prst="rect">
            <a:avLst/>
          </a:prstGeom>
          <a:noFill/>
          <a:ln/>
        </p:spPr>
        <p:txBody>
          <a:bodyPr wrap="square"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17" name="Text 15"/>
          <p:cNvSpPr/>
          <p:nvPr/>
        </p:nvSpPr>
        <p:spPr>
          <a:xfrm>
            <a:off x="1325880" y="3621024"/>
            <a:ext cx="5943600" cy="457200"/>
          </a:xfrm>
          <a:prstGeom prst="rect">
            <a:avLst/>
          </a:prstGeom>
          <a:noFill/>
          <a:ln/>
        </p:spPr>
        <p:txBody>
          <a:bodyPr wrap="square" rtlCol="0" anchor="ctr"/>
          <a:lstStyle/>
          <a:p>
            <a:pPr indent="0" marL="0">
              <a:buNone/>
            </a:pPr>
            <a:r>
              <a:rPr lang="en-US" sz="1800" b="1" dirty="0">
                <a:solidFill>
                  <a:srgbClr val="004976"/>
                </a:solidFill>
                <a:latin typeface="Roboto" pitchFamily="34" charset="0"/>
                <a:ea typeface="Roboto" pitchFamily="34" charset="-122"/>
                <a:cs typeface="Roboto" pitchFamily="34" charset="-120"/>
              </a:rPr>
              <a:t>Cool feedback</a:t>
            </a:r>
            <a:endParaRPr lang="en-US" sz="1800" dirty="0"/>
          </a:p>
        </p:txBody>
      </p:sp>
      <p:sp>
        <p:nvSpPr>
          <p:cNvPr id="18" name="Text 16"/>
          <p:cNvSpPr/>
          <p:nvPr/>
        </p:nvSpPr>
        <p:spPr>
          <a:xfrm>
            <a:off x="7040880" y="3621024"/>
            <a:ext cx="1371600" cy="457200"/>
          </a:xfrm>
          <a:prstGeom prst="rect">
            <a:avLst/>
          </a:prstGeom>
          <a:noFill/>
          <a:ln/>
        </p:spPr>
        <p:txBody>
          <a:bodyPr wrap="square" rtlCol="0" anchor="ctr"/>
          <a:lstStyle/>
          <a:p>
            <a:pPr indent="0" marL="0">
              <a:buNone/>
            </a:pPr>
            <a:r>
              <a:rPr lang="en-US" sz="1600" dirty="0">
                <a:solidFill>
                  <a:srgbClr val="97999B"/>
                </a:solidFill>
                <a:latin typeface="Lato" pitchFamily="34" charset="0"/>
                <a:ea typeface="Lato" pitchFamily="34" charset="-122"/>
                <a:cs typeface="Lato" pitchFamily="34" charset="-120"/>
              </a:rPr>
              <a:t>5 min</a:t>
            </a:r>
            <a:endParaRPr lang="en-US" sz="1600" dirty="0"/>
          </a:p>
        </p:txBody>
      </p:sp>
      <p:sp>
        <p:nvSpPr>
          <p:cNvPr id="19" name="Shape 17"/>
          <p:cNvSpPr/>
          <p:nvPr/>
        </p:nvSpPr>
        <p:spPr>
          <a:xfrm>
            <a:off x="640080" y="4279392"/>
            <a:ext cx="457200" cy="457200"/>
          </a:xfrm>
          <a:prstGeom prst="ellipse">
            <a:avLst/>
          </a:prstGeom>
          <a:solidFill>
            <a:srgbClr val="004976"/>
          </a:solidFill>
          <a:ln/>
        </p:spPr>
      </p:sp>
      <p:sp>
        <p:nvSpPr>
          <p:cNvPr id="20" name="Text 18"/>
          <p:cNvSpPr/>
          <p:nvPr/>
        </p:nvSpPr>
        <p:spPr>
          <a:xfrm>
            <a:off x="640080" y="4279392"/>
            <a:ext cx="457200" cy="457200"/>
          </a:xfrm>
          <a:prstGeom prst="rect">
            <a:avLst/>
          </a:prstGeom>
          <a:noFill/>
          <a:ln/>
        </p:spPr>
        <p:txBody>
          <a:bodyPr wrap="square"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21" name="Text 19"/>
          <p:cNvSpPr/>
          <p:nvPr/>
        </p:nvSpPr>
        <p:spPr>
          <a:xfrm>
            <a:off x="1325880" y="4279392"/>
            <a:ext cx="5943600" cy="457200"/>
          </a:xfrm>
          <a:prstGeom prst="rect">
            <a:avLst/>
          </a:prstGeom>
          <a:noFill/>
          <a:ln/>
        </p:spPr>
        <p:txBody>
          <a:bodyPr wrap="square" rtlCol="0" anchor="ctr"/>
          <a:lstStyle/>
          <a:p>
            <a:pPr indent="0" marL="0">
              <a:buNone/>
            </a:pPr>
            <a:r>
              <a:rPr lang="en-US" sz="1800" b="1" dirty="0">
                <a:solidFill>
                  <a:srgbClr val="004976"/>
                </a:solidFill>
                <a:latin typeface="Roboto" pitchFamily="34" charset="0"/>
                <a:ea typeface="Roboto" pitchFamily="34" charset="-122"/>
                <a:cs typeface="Roboto" pitchFamily="34" charset="-120"/>
              </a:rPr>
              <a:t>Presenter reflects</a:t>
            </a:r>
            <a:endParaRPr lang="en-US" sz="1800" dirty="0"/>
          </a:p>
        </p:txBody>
      </p:sp>
      <p:sp>
        <p:nvSpPr>
          <p:cNvPr id="22" name="Text 20"/>
          <p:cNvSpPr/>
          <p:nvPr/>
        </p:nvSpPr>
        <p:spPr>
          <a:xfrm>
            <a:off x="7040880" y="4279392"/>
            <a:ext cx="1371600" cy="457200"/>
          </a:xfrm>
          <a:prstGeom prst="rect">
            <a:avLst/>
          </a:prstGeom>
          <a:noFill/>
          <a:ln/>
        </p:spPr>
        <p:txBody>
          <a:bodyPr wrap="square" rtlCol="0" anchor="ctr"/>
          <a:lstStyle/>
          <a:p>
            <a:pPr indent="0" marL="0">
              <a:buNone/>
            </a:pPr>
            <a:r>
              <a:rPr lang="en-US" sz="1600" dirty="0">
                <a:solidFill>
                  <a:srgbClr val="97999B"/>
                </a:solidFill>
                <a:latin typeface="Lato" pitchFamily="34" charset="0"/>
                <a:ea typeface="Lato" pitchFamily="34" charset="-122"/>
                <a:cs typeface="Lato" pitchFamily="34" charset="-120"/>
              </a:rPr>
              <a:t>3 min</a:t>
            </a:r>
            <a:endParaRPr lang="en-US" sz="1600" dirty="0"/>
          </a:p>
        </p:txBody>
      </p:sp>
      <p:sp>
        <p:nvSpPr>
          <p:cNvPr id="23" name="Shape 21"/>
          <p:cNvSpPr/>
          <p:nvPr/>
        </p:nvSpPr>
        <p:spPr>
          <a:xfrm>
            <a:off x="640080" y="5074920"/>
            <a:ext cx="10911535" cy="1051560"/>
          </a:xfrm>
          <a:prstGeom prst="roundRect">
            <a:avLst>
              <a:gd name="adj" fmla="val 6957"/>
            </a:avLst>
          </a:prstGeom>
          <a:solidFill>
            <a:srgbClr val="EDF3EC"/>
          </a:solidFill>
          <a:ln w="12700">
            <a:solidFill>
              <a:srgbClr val="8F993E"/>
            </a:solidFill>
            <a:prstDash val="solid"/>
          </a:ln>
        </p:spPr>
      </p:sp>
      <p:sp>
        <p:nvSpPr>
          <p:cNvPr id="24" name="Text 22"/>
          <p:cNvSpPr/>
          <p:nvPr/>
        </p:nvSpPr>
        <p:spPr>
          <a:xfrm>
            <a:off x="1005840" y="5074920"/>
            <a:ext cx="10180015" cy="1051560"/>
          </a:xfrm>
          <a:prstGeom prst="rect">
            <a:avLst/>
          </a:prstGeom>
          <a:noFill/>
          <a:ln/>
        </p:spPr>
        <p:txBody>
          <a:bodyPr wrap="square" rtlCol="0" anchor="ctr"/>
          <a:lstStyle/>
          <a:p>
            <a:pPr indent="0" marL="0">
              <a:buNone/>
            </a:pPr>
            <a:r>
              <a:rPr lang="en-US" sz="1700" i="1" dirty="0">
                <a:solidFill>
                  <a:srgbClr val="3E5A2E"/>
                </a:solidFill>
                <a:latin typeface="Lato" pitchFamily="34" charset="0"/>
                <a:ea typeface="Lato" pitchFamily="34" charset="-122"/>
                <a:cs typeface="Lato" pitchFamily="34" charset="-120"/>
              </a:rPr>
              <a:t>Two questions run underneath: did you keep the mentee the author? Did you reach for referral when it was needed?</a:t>
            </a:r>
            <a:endParaRPr lang="en-US" sz="1700" dirty="0"/>
          </a:p>
        </p:txBody>
      </p:sp>
      <p:sp>
        <p:nvSpPr>
          <p:cNvPr id="25" name="Text 23"/>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976"/>
        </a:solidFill>
      </p:bgPr>
    </p:bg>
    <p:spTree>
      <p:nvGrpSpPr>
        <p:cNvPr id="1" name=""/>
        <p:cNvGrpSpPr/>
        <p:nvPr/>
      </p:nvGrpSpPr>
      <p:grpSpPr>
        <a:xfrm>
          <a:off x="0" y="0"/>
          <a:ext cx="0" cy="0"/>
          <a:chOff x="0" y="0"/>
          <a:chExt cx="0" cy="0"/>
        </a:xfrm>
      </p:grpSpPr>
      <p:sp>
        <p:nvSpPr>
          <p:cNvPr id="2" name="Text 0"/>
          <p:cNvSpPr/>
          <p:nvPr/>
        </p:nvSpPr>
        <p:spPr>
          <a:xfrm>
            <a:off x="640080" y="548640"/>
            <a:ext cx="10911535" cy="822960"/>
          </a:xfrm>
          <a:prstGeom prst="rect">
            <a:avLst/>
          </a:prstGeom>
          <a:noFill/>
          <a:ln/>
        </p:spPr>
        <p:txBody>
          <a:bodyPr wrap="square" rtlCol="0" anchor="ctr"/>
          <a:lstStyle/>
          <a:p>
            <a:pPr indent="0" marL="0">
              <a:buNone/>
            </a:pPr>
            <a:r>
              <a:rPr lang="en-US" sz="3200" b="1" dirty="0">
                <a:solidFill>
                  <a:srgbClr val="FFFFFF"/>
                </a:solidFill>
                <a:latin typeface="Roboto" pitchFamily="34" charset="0"/>
                <a:ea typeface="Roboto" pitchFamily="34" charset="-122"/>
                <a:cs typeface="Roboto" pitchFamily="34" charset="-120"/>
              </a:rPr>
              <a:t>Calibrate together: the safeguarding scenario</a:t>
            </a:r>
            <a:endParaRPr lang="en-US" sz="3200" dirty="0"/>
          </a:p>
        </p:txBody>
      </p:sp>
      <p:sp>
        <p:nvSpPr>
          <p:cNvPr id="3" name="Shape 1"/>
          <p:cNvSpPr/>
          <p:nvPr/>
        </p:nvSpPr>
        <p:spPr>
          <a:xfrm>
            <a:off x="640080" y="1956816"/>
            <a:ext cx="274320" cy="274320"/>
          </a:xfrm>
          <a:prstGeom prst="ellipse">
            <a:avLst/>
          </a:prstGeom>
          <a:solidFill>
            <a:srgbClr val="F0B323"/>
          </a:solidFill>
          <a:ln/>
        </p:spPr>
      </p:sp>
      <p:sp>
        <p:nvSpPr>
          <p:cNvPr id="4" name="Text 2"/>
          <p:cNvSpPr/>
          <p:nvPr/>
        </p:nvSpPr>
        <p:spPr>
          <a:xfrm>
            <a:off x="1188720" y="1810512"/>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Recognise the boundary: this needs more than mentoring.</a:t>
            </a:r>
            <a:endParaRPr lang="en-US" sz="1900" dirty="0"/>
          </a:p>
        </p:txBody>
      </p:sp>
      <p:sp>
        <p:nvSpPr>
          <p:cNvPr id="5" name="Shape 3"/>
          <p:cNvSpPr/>
          <p:nvPr/>
        </p:nvSpPr>
        <p:spPr>
          <a:xfrm>
            <a:off x="640080" y="2825496"/>
            <a:ext cx="274320" cy="274320"/>
          </a:xfrm>
          <a:prstGeom prst="ellipse">
            <a:avLst/>
          </a:prstGeom>
          <a:solidFill>
            <a:srgbClr val="F0B323"/>
          </a:solidFill>
          <a:ln/>
        </p:spPr>
      </p:sp>
      <p:sp>
        <p:nvSpPr>
          <p:cNvPr id="6" name="Text 4"/>
          <p:cNvSpPr/>
          <p:nvPr/>
        </p:nvSpPr>
        <p:spPr>
          <a:xfrm>
            <a:off x="1188720" y="2679192"/>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Do not promise secrecy; explain what must happen next, and why.</a:t>
            </a:r>
            <a:endParaRPr lang="en-US" sz="1900" dirty="0"/>
          </a:p>
        </p:txBody>
      </p:sp>
      <p:sp>
        <p:nvSpPr>
          <p:cNvPr id="7" name="Shape 5"/>
          <p:cNvSpPr/>
          <p:nvPr/>
        </p:nvSpPr>
        <p:spPr>
          <a:xfrm>
            <a:off x="640080" y="3694176"/>
            <a:ext cx="274320" cy="274320"/>
          </a:xfrm>
          <a:prstGeom prst="ellipse">
            <a:avLst/>
          </a:prstGeom>
          <a:solidFill>
            <a:srgbClr val="F0B323"/>
          </a:solidFill>
          <a:ln/>
        </p:spPr>
      </p:sp>
      <p:sp>
        <p:nvSpPr>
          <p:cNvPr id="8" name="Text 6"/>
          <p:cNvSpPr/>
          <p:nvPr/>
        </p:nvSpPr>
        <p:spPr>
          <a:xfrm>
            <a:off x="1188720" y="3547872"/>
            <a:ext cx="10241280" cy="640080"/>
          </a:xfrm>
          <a:prstGeom prst="rect">
            <a:avLst/>
          </a:prstGeom>
          <a:noFill/>
          <a:ln/>
        </p:spPr>
        <p:txBody>
          <a:bodyPr wrap="square" rtlCol="0" anchor="ctr"/>
          <a:lstStyle/>
          <a:p>
            <a:pPr indent="0" marL="0">
              <a:buNone/>
            </a:pPr>
            <a:r>
              <a:rPr lang="en-US" sz="1900" dirty="0">
                <a:solidFill>
                  <a:srgbClr val="FFFFFF"/>
                </a:solidFill>
                <a:latin typeface="Lato" pitchFamily="34" charset="0"/>
                <a:ea typeface="Lato" pitchFamily="34" charset="-122"/>
                <a:cs typeface="Lato" pitchFamily="34" charset="-120"/>
              </a:rPr>
              <a:t>Route to your own setting’s policy and designated lead.</a:t>
            </a:r>
            <a:endParaRPr lang="en-US" sz="1900" dirty="0"/>
          </a:p>
        </p:txBody>
      </p:sp>
      <p:sp>
        <p:nvSpPr>
          <p:cNvPr id="9" name="Text 7"/>
          <p:cNvSpPr/>
          <p:nvPr/>
        </p:nvSpPr>
        <p:spPr>
          <a:xfrm>
            <a:off x="640080" y="5029200"/>
            <a:ext cx="10911535" cy="548640"/>
          </a:xfrm>
          <a:prstGeom prst="rect">
            <a:avLst/>
          </a:prstGeom>
          <a:noFill/>
          <a:ln/>
        </p:spPr>
        <p:txBody>
          <a:bodyPr wrap="square" rtlCol="0" anchor="ctr"/>
          <a:lstStyle/>
          <a:p>
            <a:pPr indent="0" marL="0">
              <a:buNone/>
            </a:pPr>
            <a:r>
              <a:rPr lang="en-US" sz="2000" i="1" dirty="0">
                <a:solidFill>
                  <a:srgbClr val="F0B323"/>
                </a:solidFill>
                <a:latin typeface="Roboto" pitchFamily="34" charset="0"/>
                <a:ea typeface="Roboto" pitchFamily="34" charset="-122"/>
                <a:cs typeface="Roboto" pitchFamily="34" charset="-120"/>
              </a:rPr>
              <a:t>There is no universal procedure. Recognising the boundary is the skill.</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Distress is not the signal</a:t>
            </a:r>
            <a:endParaRPr lang="en-US" sz="3400" dirty="0"/>
          </a:p>
        </p:txBody>
      </p:sp>
      <p:sp>
        <p:nvSpPr>
          <p:cNvPr id="3" name="Shape 1"/>
          <p:cNvSpPr/>
          <p:nvPr/>
        </p:nvSpPr>
        <p:spPr>
          <a:xfrm>
            <a:off x="640080" y="1691640"/>
            <a:ext cx="5318608" cy="3108960"/>
          </a:xfrm>
          <a:prstGeom prst="roundRect">
            <a:avLst>
              <a:gd name="adj" fmla="val 2353"/>
            </a:avLst>
          </a:prstGeom>
          <a:solidFill>
            <a:srgbClr val="F1F5F8"/>
          </a:solidFill>
          <a:ln w="12700">
            <a:solidFill>
              <a:srgbClr val="D8E2EA"/>
            </a:solidFill>
            <a:prstDash val="solid"/>
          </a:ln>
        </p:spPr>
      </p:sp>
      <p:sp>
        <p:nvSpPr>
          <p:cNvPr id="4" name="Text 2"/>
          <p:cNvSpPr/>
          <p:nvPr/>
        </p:nvSpPr>
        <p:spPr>
          <a:xfrm>
            <a:off x="960120" y="1965960"/>
            <a:ext cx="4678528" cy="548640"/>
          </a:xfrm>
          <a:prstGeom prst="rect">
            <a:avLst/>
          </a:prstGeom>
          <a:noFill/>
          <a:ln/>
        </p:spPr>
        <p:txBody>
          <a:bodyPr wrap="square" rtlCol="0" anchor="ctr"/>
          <a:lstStyle/>
          <a:p>
            <a:pPr indent="0" marL="0">
              <a:buNone/>
            </a:pPr>
            <a:r>
              <a:rPr lang="en-US" sz="2000" b="1" dirty="0">
                <a:solidFill>
                  <a:srgbClr val="4797A8"/>
                </a:solidFill>
                <a:latin typeface="Roboto" pitchFamily="34" charset="0"/>
                <a:ea typeface="Roboto" pitchFamily="34" charset="-122"/>
                <a:cs typeface="Roboto" pitchFamily="34" charset="-120"/>
              </a:rPr>
              <a:t>Under strain, but safe</a:t>
            </a:r>
            <a:endParaRPr lang="en-US" sz="2000" dirty="0"/>
          </a:p>
        </p:txBody>
      </p:sp>
      <p:sp>
        <p:nvSpPr>
          <p:cNvPr id="5" name="Text 3"/>
          <p:cNvSpPr/>
          <p:nvPr/>
        </p:nvSpPr>
        <p:spPr>
          <a:xfrm>
            <a:off x="960120" y="2651760"/>
            <a:ext cx="4678528" cy="1920240"/>
          </a:xfrm>
          <a:prstGeom prst="rect">
            <a:avLst/>
          </a:prstGeom>
          <a:noFill/>
          <a:ln/>
        </p:spPr>
        <p:txBody>
          <a:bodyPr wrap="square" rtlCol="0" anchor="t"/>
          <a:lstStyle/>
          <a:p>
            <a:pPr indent="0" marL="0">
              <a:buNone/>
            </a:pPr>
            <a:r>
              <a:rPr lang="en-US" sz="1700" dirty="0">
                <a:solidFill>
                  <a:srgbClr val="222222"/>
                </a:solidFill>
                <a:latin typeface="Lato" pitchFamily="34" charset="0"/>
                <a:ea typeface="Lato" pitchFamily="34" charset="-122"/>
                <a:cs typeface="Lato" pitchFamily="34" charset="-120"/>
              </a:rPr>
              <a:t>Coach them to build their own strategy. Keep a light check-in going, and watch and document.</a:t>
            </a:r>
            <a:endParaRPr lang="en-US" sz="1700" dirty="0"/>
          </a:p>
        </p:txBody>
      </p:sp>
      <p:sp>
        <p:nvSpPr>
          <p:cNvPr id="6" name="Shape 4"/>
          <p:cNvSpPr/>
          <p:nvPr/>
        </p:nvSpPr>
        <p:spPr>
          <a:xfrm>
            <a:off x="6233008" y="1691640"/>
            <a:ext cx="5318608" cy="3108960"/>
          </a:xfrm>
          <a:prstGeom prst="roundRect">
            <a:avLst>
              <a:gd name="adj" fmla="val 2353"/>
            </a:avLst>
          </a:prstGeom>
          <a:solidFill>
            <a:srgbClr val="F1F5F8"/>
          </a:solidFill>
          <a:ln w="12700">
            <a:solidFill>
              <a:srgbClr val="D8E2EA"/>
            </a:solidFill>
            <a:prstDash val="solid"/>
          </a:ln>
        </p:spPr>
      </p:sp>
      <p:sp>
        <p:nvSpPr>
          <p:cNvPr id="7" name="Text 5"/>
          <p:cNvSpPr/>
          <p:nvPr/>
        </p:nvSpPr>
        <p:spPr>
          <a:xfrm>
            <a:off x="6553048" y="1965960"/>
            <a:ext cx="4678528" cy="822960"/>
          </a:xfrm>
          <a:prstGeom prst="rect">
            <a:avLst/>
          </a:prstGeom>
          <a:noFill/>
          <a:ln/>
        </p:spPr>
        <p:txBody>
          <a:bodyPr wrap="square" rtlCol="0" anchor="ctr"/>
          <a:lstStyle/>
          <a:p>
            <a:pPr indent="0" marL="0">
              <a:buNone/>
            </a:pPr>
            <a:r>
              <a:rPr lang="en-US" sz="2000" b="1" dirty="0">
                <a:solidFill>
                  <a:srgbClr val="EF9600"/>
                </a:solidFill>
                <a:latin typeface="Roboto" pitchFamily="34" charset="0"/>
                <a:ea typeface="Roboto" pitchFamily="34" charset="-122"/>
                <a:cs typeface="Roboto" pitchFamily="34" charset="-120"/>
              </a:rPr>
              <a:t>May not be safe, asks for secrecy</a:t>
            </a:r>
            <a:endParaRPr lang="en-US" sz="2000" dirty="0"/>
          </a:p>
        </p:txBody>
      </p:sp>
      <p:sp>
        <p:nvSpPr>
          <p:cNvPr id="8" name="Text 6"/>
          <p:cNvSpPr/>
          <p:nvPr/>
        </p:nvSpPr>
        <p:spPr>
          <a:xfrm>
            <a:off x="6553048" y="2651760"/>
            <a:ext cx="4678528" cy="1920240"/>
          </a:xfrm>
          <a:prstGeom prst="rect">
            <a:avLst/>
          </a:prstGeom>
          <a:noFill/>
          <a:ln/>
        </p:spPr>
        <p:txBody>
          <a:bodyPr wrap="square" rtlCol="0" anchor="t"/>
          <a:lstStyle/>
          <a:p>
            <a:pPr indent="0" marL="0">
              <a:buNone/>
            </a:pPr>
            <a:r>
              <a:rPr lang="en-US" sz="1700" dirty="0">
                <a:solidFill>
                  <a:srgbClr val="222222"/>
                </a:solidFill>
                <a:latin typeface="Lato" pitchFamily="34" charset="0"/>
                <a:ea typeface="Lato" pitchFamily="34" charset="-122"/>
                <a:cs typeface="Lato" pitchFamily="34" charset="-120"/>
              </a:rPr>
              <a:t>Listen, do not investigate, do not promise secrecy. Record and refer within your policy.</a:t>
            </a:r>
            <a:endParaRPr lang="en-US" sz="1700" dirty="0"/>
          </a:p>
        </p:txBody>
      </p:sp>
      <p:sp>
        <p:nvSpPr>
          <p:cNvPr id="9" name="Text 7"/>
          <p:cNvSpPr/>
          <p:nvPr/>
        </p:nvSpPr>
        <p:spPr>
          <a:xfrm>
            <a:off x="640080" y="5074920"/>
            <a:ext cx="10911535" cy="548640"/>
          </a:xfrm>
          <a:prstGeom prst="rect">
            <a:avLst/>
          </a:prstGeom>
          <a:noFill/>
          <a:ln/>
        </p:spPr>
        <p:txBody>
          <a:bodyPr wrap="square" rtlCol="0" anchor="ctr"/>
          <a:lstStyle/>
          <a:p>
            <a:pPr algn="ctr" indent="0" marL="0">
              <a:buNone/>
            </a:pPr>
            <a:r>
              <a:rPr lang="en-US" sz="1800" i="1" dirty="0">
                <a:solidFill>
                  <a:srgbClr val="004976"/>
                </a:solidFill>
                <a:latin typeface="Roboto" pitchFamily="34" charset="0"/>
                <a:ea typeface="Roboto" pitchFamily="34" charset="-122"/>
                <a:cs typeface="Roboto" pitchFamily="34" charset="-120"/>
              </a:rPr>
              <a:t>Distress alone is not a reason to refer. Refusing to refer is not resilience.</a:t>
            </a:r>
            <a:endParaRPr lang="en-US" sz="1800" dirty="0"/>
          </a:p>
        </p:txBody>
      </p:sp>
      <p:sp>
        <p:nvSpPr>
          <p:cNvPr id="10" name="Text 8"/>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Before you submit</a:t>
            </a:r>
            <a:endParaRPr lang="en-US" sz="3400" dirty="0"/>
          </a:p>
        </p:txBody>
      </p:sp>
      <p:sp>
        <p:nvSpPr>
          <p:cNvPr id="3" name="Shape 1"/>
          <p:cNvSpPr/>
          <p:nvPr/>
        </p:nvSpPr>
        <p:spPr>
          <a:xfrm>
            <a:off x="640080" y="1828800"/>
            <a:ext cx="10911535" cy="777240"/>
          </a:xfrm>
          <a:prstGeom prst="roundRect">
            <a:avLst>
              <a:gd name="adj" fmla="val 7059"/>
            </a:avLst>
          </a:prstGeom>
          <a:solidFill>
            <a:srgbClr val="F1F5F8"/>
          </a:solidFill>
          <a:ln w="12700">
            <a:solidFill>
              <a:srgbClr val="D8E2EA"/>
            </a:solidFill>
            <a:prstDash val="solid"/>
          </a:ln>
        </p:spPr>
      </p:sp>
      <p:sp>
        <p:nvSpPr>
          <p:cNvPr id="4" name="Shape 2"/>
          <p:cNvSpPr/>
          <p:nvPr/>
        </p:nvSpPr>
        <p:spPr>
          <a:xfrm>
            <a:off x="914400" y="2048256"/>
            <a:ext cx="347472" cy="347472"/>
          </a:xfrm>
          <a:prstGeom prst="ellipse">
            <a:avLst/>
          </a:prstGeom>
          <a:solidFill>
            <a:srgbClr val="4797A8"/>
          </a:solidFill>
          <a:ln/>
        </p:spPr>
      </p:sp>
      <p:sp>
        <p:nvSpPr>
          <p:cNvPr id="5" name="Text 3"/>
          <p:cNvSpPr/>
          <p:nvPr/>
        </p:nvSpPr>
        <p:spPr>
          <a:xfrm>
            <a:off x="1508760" y="1828800"/>
            <a:ext cx="9814255" cy="777240"/>
          </a:xfrm>
          <a:prstGeom prst="rect">
            <a:avLst/>
          </a:prstGeom>
          <a:noFill/>
          <a:ln/>
        </p:spPr>
        <p:txBody>
          <a:bodyPr wrap="square" rtlCol="0" anchor="ctr"/>
          <a:lstStyle/>
          <a:p>
            <a:pPr indent="0" marL="0">
              <a:buNone/>
            </a:pPr>
            <a:r>
              <a:rPr lang="en-US" sz="1900" b="1" dirty="0">
                <a:solidFill>
                  <a:srgbClr val="004976"/>
                </a:solidFill>
                <a:latin typeface="Roboto" pitchFamily="34" charset="0"/>
                <a:ea typeface="Roboto" pitchFamily="34" charset="-122"/>
                <a:cs typeface="Roboto" pitchFamily="34" charset="-120"/>
              </a:rPr>
              <a:t>Grounded in the learner and context</a:t>
            </a:r>
            <a:endParaRPr lang="en-US" sz="1900" dirty="0"/>
          </a:p>
        </p:txBody>
      </p:sp>
      <p:sp>
        <p:nvSpPr>
          <p:cNvPr id="6" name="Shape 4"/>
          <p:cNvSpPr/>
          <p:nvPr/>
        </p:nvSpPr>
        <p:spPr>
          <a:xfrm>
            <a:off x="640080" y="2788920"/>
            <a:ext cx="10911535" cy="777240"/>
          </a:xfrm>
          <a:prstGeom prst="roundRect">
            <a:avLst>
              <a:gd name="adj" fmla="val 7059"/>
            </a:avLst>
          </a:prstGeom>
          <a:solidFill>
            <a:srgbClr val="F1F5F8"/>
          </a:solidFill>
          <a:ln w="12700">
            <a:solidFill>
              <a:srgbClr val="D8E2EA"/>
            </a:solidFill>
            <a:prstDash val="solid"/>
          </a:ln>
        </p:spPr>
      </p:sp>
      <p:sp>
        <p:nvSpPr>
          <p:cNvPr id="7" name="Shape 5"/>
          <p:cNvSpPr/>
          <p:nvPr/>
        </p:nvSpPr>
        <p:spPr>
          <a:xfrm>
            <a:off x="914400" y="3008376"/>
            <a:ext cx="347472" cy="347472"/>
          </a:xfrm>
          <a:prstGeom prst="ellipse">
            <a:avLst/>
          </a:prstGeom>
          <a:solidFill>
            <a:srgbClr val="8F993E"/>
          </a:solidFill>
          <a:ln/>
        </p:spPr>
      </p:sp>
      <p:sp>
        <p:nvSpPr>
          <p:cNvPr id="8" name="Text 6"/>
          <p:cNvSpPr/>
          <p:nvPr/>
        </p:nvSpPr>
        <p:spPr>
          <a:xfrm>
            <a:off x="1508760" y="2788920"/>
            <a:ext cx="9814255" cy="777240"/>
          </a:xfrm>
          <a:prstGeom prst="rect">
            <a:avLst/>
          </a:prstGeom>
          <a:noFill/>
          <a:ln/>
        </p:spPr>
        <p:txBody>
          <a:bodyPr wrap="square" rtlCol="0" anchor="ctr"/>
          <a:lstStyle/>
          <a:p>
            <a:pPr indent="0" marL="0">
              <a:buNone/>
            </a:pPr>
            <a:r>
              <a:rPr lang="en-US" sz="1900" b="1" dirty="0">
                <a:solidFill>
                  <a:srgbClr val="004976"/>
                </a:solidFill>
                <a:latin typeface="Roboto" pitchFamily="34" charset="0"/>
                <a:ea typeface="Roboto" pitchFamily="34" charset="-122"/>
                <a:cs typeface="Roboto" pitchFamily="34" charset="-120"/>
              </a:rPr>
              <a:t>Sustained and structured</a:t>
            </a:r>
            <a:endParaRPr lang="en-US" sz="1900" dirty="0"/>
          </a:p>
        </p:txBody>
      </p:sp>
      <p:sp>
        <p:nvSpPr>
          <p:cNvPr id="9" name="Shape 7"/>
          <p:cNvSpPr/>
          <p:nvPr/>
        </p:nvSpPr>
        <p:spPr>
          <a:xfrm>
            <a:off x="640080" y="3749040"/>
            <a:ext cx="10911535" cy="777240"/>
          </a:xfrm>
          <a:prstGeom prst="roundRect">
            <a:avLst>
              <a:gd name="adj" fmla="val 7059"/>
            </a:avLst>
          </a:prstGeom>
          <a:solidFill>
            <a:srgbClr val="F1F5F8"/>
          </a:solidFill>
          <a:ln w="12700">
            <a:solidFill>
              <a:srgbClr val="D8E2EA"/>
            </a:solidFill>
            <a:prstDash val="solid"/>
          </a:ln>
        </p:spPr>
      </p:sp>
      <p:sp>
        <p:nvSpPr>
          <p:cNvPr id="10" name="Shape 8"/>
          <p:cNvSpPr/>
          <p:nvPr/>
        </p:nvSpPr>
        <p:spPr>
          <a:xfrm>
            <a:off x="914400" y="3968496"/>
            <a:ext cx="347472" cy="347472"/>
          </a:xfrm>
          <a:prstGeom prst="ellipse">
            <a:avLst/>
          </a:prstGeom>
          <a:solidFill>
            <a:srgbClr val="EF9600"/>
          </a:solidFill>
          <a:ln/>
        </p:spPr>
      </p:sp>
      <p:sp>
        <p:nvSpPr>
          <p:cNvPr id="11" name="Text 9"/>
          <p:cNvSpPr/>
          <p:nvPr/>
        </p:nvSpPr>
        <p:spPr>
          <a:xfrm>
            <a:off x="1508760" y="3749040"/>
            <a:ext cx="9814255" cy="777240"/>
          </a:xfrm>
          <a:prstGeom prst="rect">
            <a:avLst/>
          </a:prstGeom>
          <a:noFill/>
          <a:ln/>
        </p:spPr>
        <p:txBody>
          <a:bodyPr wrap="square" rtlCol="0" anchor="ctr"/>
          <a:lstStyle/>
          <a:p>
            <a:pPr indent="0" marL="0">
              <a:buNone/>
            </a:pPr>
            <a:r>
              <a:rPr lang="en-US" sz="1900" b="1" dirty="0">
                <a:solidFill>
                  <a:srgbClr val="004976"/>
                </a:solidFill>
                <a:latin typeface="Roboto" pitchFamily="34" charset="0"/>
                <a:ea typeface="Roboto" pitchFamily="34" charset="-122"/>
                <a:cs typeface="Roboto" pitchFamily="34" charset="-120"/>
              </a:rPr>
              <a:t>Sound mentoring judgement</a:t>
            </a:r>
            <a:endParaRPr lang="en-US" sz="1900" dirty="0"/>
          </a:p>
        </p:txBody>
      </p:sp>
      <p:sp>
        <p:nvSpPr>
          <p:cNvPr id="12" name="Text 10"/>
          <p:cNvSpPr/>
          <p:nvPr/>
        </p:nvSpPr>
        <p:spPr>
          <a:xfrm>
            <a:off x="640080" y="5029200"/>
            <a:ext cx="10911535" cy="457200"/>
          </a:xfrm>
          <a:prstGeom prst="rect">
            <a:avLst/>
          </a:prstGeom>
          <a:noFill/>
          <a:ln/>
        </p:spPr>
        <p:txBody>
          <a:bodyPr wrap="square" rtlCol="0" anchor="ctr"/>
          <a:lstStyle/>
          <a:p>
            <a:pPr indent="0" marL="0">
              <a:buNone/>
            </a:pPr>
            <a:r>
              <a:rPr lang="en-US" sz="1700" i="1" dirty="0">
                <a:solidFill>
                  <a:srgbClr val="97999B"/>
                </a:solidFill>
                <a:latin typeface="Lato" pitchFamily="34" charset="0"/>
                <a:ea typeface="Lato" pitchFamily="34" charset="-122"/>
                <a:cs typeface="Lato" pitchFamily="34" charset="-120"/>
              </a:rPr>
              <a:t>All three met is a pass.</a:t>
            </a:r>
            <a:endParaRPr lang="en-US" sz="1700" dirty="0"/>
          </a:p>
        </p:txBody>
      </p:sp>
      <p:sp>
        <p:nvSpPr>
          <p:cNvPr id="13" name="Text 11"/>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822960"/>
          </a:xfrm>
          <a:prstGeom prst="rect">
            <a:avLst/>
          </a:prstGeom>
          <a:noFill/>
          <a:ln/>
        </p:spPr>
        <p:txBody>
          <a:bodyPr wrap="square" rtlCol="0" anchor="ctr"/>
          <a:lstStyle/>
          <a:p>
            <a:pPr algn="l" indent="0" marL="0">
              <a:buNone/>
            </a:pPr>
            <a:r>
              <a:rPr lang="en-US" sz="3400" b="1" dirty="0">
                <a:solidFill>
                  <a:srgbClr val="004976"/>
                </a:solidFill>
                <a:latin typeface="Roboto" pitchFamily="34" charset="0"/>
                <a:ea typeface="Roboto" pitchFamily="34" charset="-122"/>
                <a:cs typeface="Roboto" pitchFamily="34" charset="-120"/>
              </a:rPr>
              <a:t>Your plan lives on</a:t>
            </a:r>
            <a:endParaRPr lang="en-US" sz="3400" dirty="0"/>
          </a:p>
        </p:txBody>
      </p:sp>
      <p:sp>
        <p:nvSpPr>
          <p:cNvPr id="3" name="Text 1"/>
          <p:cNvSpPr/>
          <p:nvPr/>
        </p:nvSpPr>
        <p:spPr>
          <a:xfrm>
            <a:off x="640080" y="1828800"/>
            <a:ext cx="10911535" cy="1828800"/>
          </a:xfrm>
          <a:prstGeom prst="rect">
            <a:avLst/>
          </a:prstGeom>
          <a:noFill/>
          <a:ln/>
        </p:spPr>
        <p:txBody>
          <a:bodyPr wrap="square" rtlCol="0" anchor="t"/>
          <a:lstStyle/>
          <a:p>
            <a:pPr indent="0" marL="0">
              <a:buNone/>
            </a:pPr>
            <a:r>
              <a:rPr lang="en-US" sz="2000" dirty="0">
                <a:solidFill>
                  <a:srgbClr val="222222"/>
                </a:solidFill>
                <a:latin typeface="Lato" pitchFamily="34" charset="0"/>
                <a:ea typeface="Lato" pitchFamily="34" charset="-122"/>
                <a:cs typeface="Lato" pitchFamily="34" charset="-120"/>
              </a:rPr>
              <a:t>Section 4 turns your plan into a living record: a conversation log after each meeting, and a step-back every few meetings. As you learn more, return to Sections 1 to 3 and update them.</a:t>
            </a:r>
            <a:endParaRPr lang="en-US" sz="2000" dirty="0"/>
          </a:p>
        </p:txBody>
      </p:sp>
      <p:sp>
        <p:nvSpPr>
          <p:cNvPr id="4" name="Text 2"/>
          <p:cNvSpPr/>
          <p:nvPr/>
        </p:nvSpPr>
        <p:spPr>
          <a:xfrm>
            <a:off x="640080" y="4023360"/>
            <a:ext cx="10911535" cy="548640"/>
          </a:xfrm>
          <a:prstGeom prst="rect">
            <a:avLst/>
          </a:prstGeom>
          <a:noFill/>
          <a:ln/>
        </p:spPr>
        <p:txBody>
          <a:bodyPr wrap="square" rtlCol="0" anchor="ctr"/>
          <a:lstStyle/>
          <a:p>
            <a:pPr indent="0" marL="0">
              <a:buNone/>
            </a:pPr>
            <a:r>
              <a:rPr lang="en-US" sz="2000" i="1" dirty="0">
                <a:solidFill>
                  <a:srgbClr val="8F993E"/>
                </a:solidFill>
                <a:latin typeface="Roboto" pitchFamily="34" charset="0"/>
                <a:ea typeface="Roboto" pitchFamily="34" charset="-122"/>
                <a:cs typeface="Roboto" pitchFamily="34" charset="-120"/>
              </a:rPr>
              <a:t>You keep it for as long as it is useful.</a:t>
            </a:r>
            <a:endParaRPr lang="en-US" sz="2000" dirty="0"/>
          </a:p>
        </p:txBody>
      </p:sp>
      <p:sp>
        <p:nvSpPr>
          <p:cNvPr id="5" name="Text 3"/>
          <p:cNvSpPr/>
          <p:nvPr/>
        </p:nvSpPr>
        <p:spPr>
          <a:xfrm>
            <a:off x="640080" y="6446520"/>
            <a:ext cx="8229600" cy="274320"/>
          </a:xfrm>
          <a:prstGeom prst="rect">
            <a:avLst/>
          </a:prstGeom>
          <a:noFill/>
          <a:ln/>
        </p:spPr>
        <p:txBody>
          <a:bodyPr wrap="square" rtlCol="0" anchor="ctr"/>
          <a:lstStyle/>
          <a:p>
            <a:pPr algn="l" indent="0" marL="0">
              <a:buNone/>
            </a:pPr>
            <a:r>
              <a:rPr lang="en-US" sz="900" dirty="0">
                <a:solidFill>
                  <a:srgbClr val="97999B"/>
                </a:solidFill>
                <a:latin typeface="Lato" pitchFamily="34" charset="0"/>
                <a:ea typeface="Lato" pitchFamily="34" charset="-122"/>
                <a:cs typeface="Lato" pitchFamily="34" charset="-120"/>
              </a:rPr>
              <a:t>Amala Education for Change   ·   Being a mentor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4976"/>
        </a:solidFill>
      </p:bgPr>
    </p:bg>
    <p:spTree>
      <p:nvGrpSpPr>
        <p:cNvPr id="1" name=""/>
        <p:cNvGrpSpPr/>
        <p:nvPr/>
      </p:nvGrpSpPr>
      <p:grpSpPr>
        <a:xfrm>
          <a:off x="0" y="0"/>
          <a:ext cx="0" cy="0"/>
          <a:chOff x="0" y="0"/>
          <a:chExt cx="0" cy="0"/>
        </a:xfrm>
      </p:grpSpPr>
      <p:sp>
        <p:nvSpPr>
          <p:cNvPr id="2" name="Text 0"/>
          <p:cNvSpPr/>
          <p:nvPr/>
        </p:nvSpPr>
        <p:spPr>
          <a:xfrm>
            <a:off x="640080" y="685800"/>
            <a:ext cx="10515600" cy="914400"/>
          </a:xfrm>
          <a:prstGeom prst="rect">
            <a:avLst/>
          </a:prstGeom>
          <a:noFill/>
          <a:ln/>
        </p:spPr>
        <p:txBody>
          <a:bodyPr wrap="square" rtlCol="0" anchor="ctr"/>
          <a:lstStyle/>
          <a:p>
            <a:pPr indent="0" marL="0">
              <a:buNone/>
            </a:pPr>
            <a:r>
              <a:rPr lang="en-US" sz="3800" b="1" dirty="0">
                <a:solidFill>
                  <a:srgbClr val="FFFFFF"/>
                </a:solidFill>
                <a:latin typeface="Roboto" pitchFamily="34" charset="0"/>
                <a:ea typeface="Roboto" pitchFamily="34" charset="-122"/>
                <a:cs typeface="Roboto" pitchFamily="34" charset="-120"/>
              </a:rPr>
              <a:t>Finalise, submit, sign-off</a:t>
            </a:r>
            <a:endParaRPr lang="en-US" sz="3800" dirty="0"/>
          </a:p>
        </p:txBody>
      </p:sp>
      <p:sp>
        <p:nvSpPr>
          <p:cNvPr id="3" name="Text 1"/>
          <p:cNvSpPr/>
          <p:nvPr/>
        </p:nvSpPr>
        <p:spPr>
          <a:xfrm>
            <a:off x="640080" y="1737360"/>
            <a:ext cx="10058400" cy="457200"/>
          </a:xfrm>
          <a:prstGeom prst="rect">
            <a:avLst/>
          </a:prstGeom>
          <a:noFill/>
          <a:ln/>
        </p:spPr>
        <p:txBody>
          <a:bodyPr wrap="square" rtlCol="0" anchor="ctr"/>
          <a:lstStyle/>
          <a:p>
            <a:pPr indent="0" marL="0">
              <a:buNone/>
            </a:pPr>
            <a:r>
              <a:rPr lang="en-US" sz="2000" b="1" dirty="0">
                <a:solidFill>
                  <a:srgbClr val="F0B323"/>
                </a:solidFill>
                <a:latin typeface="Roboto" pitchFamily="34" charset="0"/>
                <a:ea typeface="Roboto" pitchFamily="34" charset="-122"/>
                <a:cs typeface="Roboto" pitchFamily="34" charset="-120"/>
              </a:rPr>
              <a:t>Independent Work 2</a:t>
            </a:r>
            <a:endParaRPr lang="en-US" sz="2000" dirty="0"/>
          </a:p>
        </p:txBody>
      </p:sp>
      <p:sp>
        <p:nvSpPr>
          <p:cNvPr id="4" name="Text 2"/>
          <p:cNvSpPr/>
          <p:nvPr/>
        </p:nvSpPr>
        <p:spPr>
          <a:xfrm>
            <a:off x="640080" y="2240280"/>
            <a:ext cx="10515600" cy="822960"/>
          </a:xfrm>
          <a:prstGeom prst="rect">
            <a:avLst/>
          </a:prstGeom>
          <a:noFill/>
          <a:ln/>
        </p:spPr>
        <p:txBody>
          <a:bodyPr wrap="square" rtlCol="0" anchor="t"/>
          <a:lstStyle/>
          <a:p>
            <a:pPr indent="0" marL="0">
              <a:buNone/>
            </a:pPr>
            <a:r>
              <a:rPr lang="en-US" sz="1900" dirty="0">
                <a:solidFill>
                  <a:srgbClr val="FFFFFF"/>
                </a:solidFill>
                <a:latin typeface="Lato" pitchFamily="34" charset="0"/>
                <a:ea typeface="Lato" pitchFamily="34" charset="-122"/>
                <a:cs typeface="Lato" pitchFamily="34" charset="-120"/>
              </a:rPr>
              <a:t>Finalise your plan and scenario responses against the checklist, and submit both to your trainer.</a:t>
            </a:r>
            <a:endParaRPr lang="en-US" sz="1900" dirty="0"/>
          </a:p>
        </p:txBody>
      </p:sp>
      <p:sp>
        <p:nvSpPr>
          <p:cNvPr id="5" name="Shape 3"/>
          <p:cNvSpPr/>
          <p:nvPr/>
        </p:nvSpPr>
        <p:spPr>
          <a:xfrm>
            <a:off x="640080" y="3383280"/>
            <a:ext cx="10911535" cy="1737360"/>
          </a:xfrm>
          <a:prstGeom prst="roundRect">
            <a:avLst>
              <a:gd name="adj" fmla="val 4211"/>
            </a:avLst>
          </a:prstGeom>
          <a:solidFill>
            <a:srgbClr val="FFFFFF"/>
          </a:solidFill>
          <a:ln/>
        </p:spPr>
      </p:sp>
      <p:sp>
        <p:nvSpPr>
          <p:cNvPr id="6" name="Text 4"/>
          <p:cNvSpPr/>
          <p:nvPr/>
        </p:nvSpPr>
        <p:spPr>
          <a:xfrm>
            <a:off x="1051560" y="3611880"/>
            <a:ext cx="10058400" cy="457200"/>
          </a:xfrm>
          <a:prstGeom prst="rect">
            <a:avLst/>
          </a:prstGeom>
          <a:noFill/>
          <a:ln/>
        </p:spPr>
        <p:txBody>
          <a:bodyPr wrap="square" rtlCol="0" anchor="ctr"/>
          <a:lstStyle/>
          <a:p>
            <a:pPr indent="0" marL="0">
              <a:buNone/>
            </a:pPr>
            <a:r>
              <a:rPr lang="en-US" sz="2000" b="1" dirty="0">
                <a:solidFill>
                  <a:srgbClr val="004976"/>
                </a:solidFill>
                <a:latin typeface="Roboto" pitchFamily="34" charset="0"/>
                <a:ea typeface="Roboto" pitchFamily="34" charset="-122"/>
                <a:cs typeface="Roboto" pitchFamily="34" charset="-120"/>
              </a:rPr>
              <a:t>Sign-off</a:t>
            </a:r>
            <a:endParaRPr lang="en-US" sz="2000" dirty="0"/>
          </a:p>
        </p:txBody>
      </p:sp>
      <p:sp>
        <p:nvSpPr>
          <p:cNvPr id="7" name="Text 5"/>
          <p:cNvSpPr/>
          <p:nvPr/>
        </p:nvSpPr>
        <p:spPr>
          <a:xfrm>
            <a:off x="1051560" y="4114800"/>
            <a:ext cx="10088575" cy="914400"/>
          </a:xfrm>
          <a:prstGeom prst="rect">
            <a:avLst/>
          </a:prstGeom>
          <a:noFill/>
          <a:ln/>
        </p:spPr>
        <p:txBody>
          <a:bodyPr wrap="square" rtlCol="0" anchor="t"/>
          <a:lstStyle/>
          <a:p>
            <a:pPr indent="0" marL="0">
              <a:buNone/>
            </a:pPr>
            <a:r>
              <a:rPr lang="en-US" sz="1800" dirty="0">
                <a:solidFill>
                  <a:srgbClr val="222222"/>
                </a:solidFill>
                <a:latin typeface="Lato" pitchFamily="34" charset="0"/>
                <a:ea typeface="Lato" pitchFamily="34" charset="-122"/>
                <a:cs typeface="Lato" pitchFamily="34" charset="-120"/>
              </a:rPr>
              <a:t>Your trainer judges three criteria, Met or Not yet, from your plan and your scenario responses. All three met is a pass, with one resit if any is not yet.</a:t>
            </a:r>
            <a:endParaRPr lang="en-US" sz="1800" dirty="0"/>
          </a:p>
        </p:txBody>
      </p:sp>
      <p:sp>
        <p:nvSpPr>
          <p:cNvPr id="8" name="Text 6"/>
          <p:cNvSpPr/>
          <p:nvPr/>
        </p:nvSpPr>
        <p:spPr>
          <a:xfrm>
            <a:off x="640080" y="6126480"/>
            <a:ext cx="10058400" cy="365760"/>
          </a:xfrm>
          <a:prstGeom prst="rect">
            <a:avLst/>
          </a:prstGeom>
          <a:noFill/>
          <a:ln/>
        </p:spPr>
        <p:txBody>
          <a:bodyPr wrap="square" rtlCol="0" anchor="ctr"/>
          <a:lstStyle/>
          <a:p>
            <a:pPr indent="0" marL="0">
              <a:buNone/>
            </a:pPr>
            <a:r>
              <a:rPr lang="en-US" sz="1300" dirty="0">
                <a:solidFill>
                  <a:srgbClr val="BBD0DE"/>
                </a:solidFill>
                <a:latin typeface="Lato" pitchFamily="34" charset="0"/>
                <a:ea typeface="Lato" pitchFamily="34" charset="-122"/>
                <a:cs typeface="Lato" pitchFamily="34" charset="-120"/>
              </a:rPr>
              <a:t>Amala Education for Change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2026-08-04T07:51:55Z</dcterms:created>
  <dcterms:modified xsi:type="dcterms:W3CDTF">2026-08-04T07:51:55Z</dcterms:modified>
</cp:coreProperties>
</file>