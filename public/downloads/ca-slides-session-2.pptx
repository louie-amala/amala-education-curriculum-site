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 (2 hrs). Purpose: participants experience moderation, learn what a defensible judgement sounds like, and see the common slips.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CONDUCTING ASSESSMENTS OF COMPETENCE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E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Calibration and moderation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31750">
            <a:solidFill>
              <a:srgbClr val="8F99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are doing today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9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moderation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221992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judgements on the same cases and work towards a shared, defensible 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072384"/>
            <a:ext cx="9539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 a defensible judgement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456432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 what reasoning holds up against the evidence, and what does not.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306824"/>
            <a:ext cx="9539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the common slips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690872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handful of ways a judgement goes wrong, named and worked through.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99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session is the heart of the module.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Moderation keeps us consistent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11535" cy="2926080"/>
          </a:xfrm>
          <a:prstGeom prst="roundRect">
            <a:avLst>
              <a:gd name="adj" fmla="val 2500"/>
            </a:avLst>
          </a:prstGeom>
          <a:solidFill>
            <a:srgbClr val="00497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94560"/>
            <a:ext cx="999713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Bring your judgements and your reasoning.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D6E2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them with others against the same evidence, and work towards a shared, defensible view.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8FB4C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judgement you cannot explain from the evidence will not hold.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we will calibrate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4ECF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700784"/>
            <a:ext cx="457200" cy="45720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 first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any discussion, you each have your own level and reasoning written down.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450592"/>
            <a:ext cx="1091153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596896"/>
            <a:ext cx="457200" cy="45720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45059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54880" y="2450592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person states their level and the evidence they rest it on — nothing more.  (2 min)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46704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4EC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493008"/>
            <a:ext cx="457200" cy="45720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34670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against the evidence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754880" y="3346704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others check that reasoning against the case, not against a gut feeling.  (3 min)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42816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242816"/>
            <a:ext cx="1091153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24281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Locate the divergence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54880" y="4242816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levels differ, find the specific evidence that should decide it.  (3 min)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38928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4ECF2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5285232"/>
            <a:ext cx="457200" cy="457200"/>
          </a:xfrm>
          <a:prstGeom prst="ellipse">
            <a:avLst/>
          </a:prstGeom>
          <a:solidFill>
            <a:srgbClr val="004976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285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513892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view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754880" y="5138928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Agree the defensible level, or say honestly that the case is borderline.  (2 min)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judgements slip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332378" cy="3291840"/>
          </a:xfrm>
          <a:prstGeom prst="roundRect">
            <a:avLst>
              <a:gd name="adj" fmla="val 2222"/>
            </a:avLst>
          </a:prstGeom>
          <a:solidFill>
            <a:srgbClr val="E4ECF2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2692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Rewarding effort or a plan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26922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plan not acted on is Theorist. A genuine effort that did not achieve the goal is Practitioner.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29658" y="1783080"/>
            <a:ext cx="3332378" cy="3291840"/>
          </a:xfrm>
          <a:prstGeom prst="roundRect">
            <a:avLst>
              <a:gd name="adj" fmla="val 2222"/>
            </a:avLst>
          </a:prstGeom>
          <a:solidFill>
            <a:srgbClr val="E4ECF2"/>
          </a:solidFill>
          <a:ln/>
        </p:spPr>
      </p:sp>
      <p:sp>
        <p:nvSpPr>
          <p:cNvPr id="9" name="Shape 7"/>
          <p:cNvSpPr/>
          <p:nvPr/>
        </p:nvSpPr>
        <p:spPr>
          <a:xfrm>
            <a:off x="4749698" y="2057400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</p:sp>
      <p:sp>
        <p:nvSpPr>
          <p:cNvPr id="10" name="Text 8"/>
          <p:cNvSpPr/>
          <p:nvPr/>
        </p:nvSpPr>
        <p:spPr>
          <a:xfrm>
            <a:off x="4749698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49698" y="2788920"/>
            <a:ext cx="2692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Attempt mistaken for achievement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49698" y="3611880"/>
            <a:ext cx="26922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Gathering, attending, resubmitting are attempts. Achievement means the goal was reached, shown by evidence.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19237" y="1783080"/>
            <a:ext cx="3332378" cy="3291840"/>
          </a:xfrm>
          <a:prstGeom prst="roundRect">
            <a:avLst>
              <a:gd name="adj" fmla="val 2222"/>
            </a:avLst>
          </a:prstGeom>
          <a:solidFill>
            <a:srgbClr val="E4EC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539277" y="2057400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</p:sp>
      <p:sp>
        <p:nvSpPr>
          <p:cNvPr id="15" name="Text 13"/>
          <p:cNvSpPr/>
          <p:nvPr/>
        </p:nvSpPr>
        <p:spPr>
          <a:xfrm>
            <a:off x="8539277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39277" y="2788920"/>
            <a:ext cx="2692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wrong reflection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39277" y="3611880"/>
            <a:ext cx="269229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Reflection on the project is not reflection on the competency. Only the latter counts.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 to pressure-test a judgement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4EC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is the rationale? Point to the words.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DF0D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Attempt or achievement? What would achievement look like here?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4ECF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463040" y="370332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Reflection on the competency, or on the project?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DF0D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177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463040" y="466344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would have to be different for this to be the level above?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a contested case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2743200"/>
          </a:xfrm>
          <a:prstGeom prst="roundRect">
            <a:avLst>
              <a:gd name="adj" fmla="val 2667"/>
            </a:avLst>
          </a:prstGeom>
          <a:solidFill>
            <a:srgbClr val="EDF0D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99971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take a case people scored differently.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reading is defended against the evidence, not asserted.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see when to hold a judgement, and when to revise it. Both are part of assessing well.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assessment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Judge your assessment set</a:t>
            </a:r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(no decisions provided). Write your reasoning, tied to the evidence across the sources, and add a short moderation-prep note.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E4ECF2"/>
          </a:solidFill>
          <a:ln/>
        </p:spPr>
      </p:sp>
      <p:sp>
        <p:nvSpPr>
          <p:cNvPr id="5" name="Text 3"/>
          <p:cNvSpPr/>
          <p:nvPr/>
        </p:nvSpPr>
        <p:spPr>
          <a:xfrm>
            <a:off x="9539935" y="2606040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  /  NOT YET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724912"/>
            <a:ext cx="8442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Defensible across the 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8442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Sound across the levels, including the credit line and no level awarded.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E4ECF2"/>
          </a:solidFill>
          <a:ln/>
        </p:spPr>
      </p:sp>
      <p:sp>
        <p:nvSpPr>
          <p:cNvPr id="9" name="Text 7"/>
          <p:cNvSpPr/>
          <p:nvPr/>
        </p:nvSpPr>
        <p:spPr>
          <a:xfrm>
            <a:off x="9539935" y="3657600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  /  NOT YET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776472"/>
            <a:ext cx="8442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Reasoning tied to evidence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114800"/>
            <a:ext cx="8442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Justified by what the evidence shows, across sources, not asserted.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E4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9539935" y="4709160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  /  NOT YET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828032"/>
            <a:ext cx="8442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for moderation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8442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can prepare to defend your judgements and, where needed, revise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CONDUCTING ASSESSMENTS OF COMPETENCE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are ready to assess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E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Judge from the evidence. Reason it through. Stand behind it in moderation.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Amala Education for Change</dc:creator>
  <cp:lastModifiedBy>Amala Education for Change</cp:lastModifiedBy>
  <cp:revision>1</cp:revision>
  <dcterms:created xsi:type="dcterms:W3CDTF">2026-07-31T09:17:04Z</dcterms:created>
  <dcterms:modified xsi:type="dcterms:W3CDTF">2026-07-31T09:17:04Z</dcterms:modified>
</cp:coreProperties>
</file>