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51435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vg4zSXCzUgl2tiKivpSJPnkhV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Lato-bold.fntdata"/><Relationship Id="rId10" Type="http://schemas.openxmlformats.org/officeDocument/2006/relationships/slide" Target="slides/slide6.xml"/><Relationship Id="rId32" Type="http://schemas.openxmlformats.org/officeDocument/2006/relationships/font" Target="fonts/Lato-regular.fntdata"/><Relationship Id="rId13" Type="http://schemas.openxmlformats.org/officeDocument/2006/relationships/slide" Target="slides/slide9.xml"/><Relationship Id="rId35" Type="http://schemas.openxmlformats.org/officeDocument/2006/relationships/font" Target="fonts/Lato-boldItalic.fntdata"/><Relationship Id="rId12" Type="http://schemas.openxmlformats.org/officeDocument/2006/relationships/slide" Target="slides/slide8.xml"/><Relationship Id="rId34" Type="http://schemas.openxmlformats.org/officeDocument/2006/relationships/font" Target="fonts/Lat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003D6B"/>
          </a:solidFill>
          <a:ln cap="flat" cmpd="sng" w="12700">
            <a:solidFill>
              <a:srgbClr val="00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192024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457200" y="14173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Roboto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Designing and Facilitating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Roboto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Group-Based Learning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32461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Slide deck for participants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730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Three sessions  ·  6 hours synchronous  ·  Amala Education for Change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slides are for participants. Refer to the Trainer Guide for facilitation notes.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Training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8686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By the end of this training you will have planned the first 10 hours of your Amala course — grounded in the transformative education principles and your course objectives.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11480" y="1463040"/>
            <a:ext cx="1298448" cy="914400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114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~1 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2648" y="2423160"/>
            <a:ext cx="896112" cy="219456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126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783080" y="1463040"/>
            <a:ext cx="1298448" cy="91440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830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7830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D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BDCE"/>
                </a:solidFill>
                <a:latin typeface="Calibri"/>
                <a:ea typeface="Calibri"/>
                <a:cs typeface="Calibri"/>
                <a:sym typeface="Calibri"/>
              </a:rPr>
              <a:t>2 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984248" y="2423160"/>
            <a:ext cx="896112" cy="219456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9842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154680" y="1463040"/>
            <a:ext cx="1298448" cy="914400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1546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Indep.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1546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~2 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55848" y="2423160"/>
            <a:ext cx="896112" cy="219456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3558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26280" y="1463040"/>
            <a:ext cx="1298448" cy="91440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262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262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D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BDCE"/>
                </a:solidFill>
                <a:latin typeface="Calibri"/>
                <a:ea typeface="Calibri"/>
                <a:cs typeface="Calibri"/>
                <a:sym typeface="Calibri"/>
              </a:rPr>
              <a:t>2 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27448" y="2423160"/>
            <a:ext cx="896112" cy="219456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274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897880" y="1463040"/>
            <a:ext cx="1298448" cy="914400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8978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Indep.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8978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~3 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099048" y="2423160"/>
            <a:ext cx="896112" cy="219456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990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269480" y="1463040"/>
            <a:ext cx="1298448" cy="91440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269480" y="149047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69480" y="1837944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D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BDCE"/>
                </a:solidFill>
                <a:latin typeface="Calibri"/>
                <a:ea typeface="Calibri"/>
                <a:cs typeface="Calibri"/>
                <a:sym typeface="Calibri"/>
              </a:rPr>
              <a:t>2 hrs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470648" y="2423160"/>
            <a:ext cx="896112" cy="219456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470648" y="2423160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11480" y="299923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12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11480" y="35295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total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606040" y="299923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6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606040" y="35295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synchronous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00600" y="299923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6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00600" y="35295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independent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995160" y="2999232"/>
            <a:ext cx="1920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10 hrs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995160" y="3529584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of course planned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Your Course Planning Guide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11480" y="88696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You will work in the Course Planning Guide throughout this training and beyond. Here is what is in it: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11480" y="1353312"/>
            <a:ext cx="4114800" cy="640080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1480" y="1353312"/>
            <a:ext cx="73152" cy="64008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9496" y="1353312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68680" y="139903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Context and learners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68680" y="167335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Who you are teaching and 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63440" y="1353312"/>
            <a:ext cx="4114800" cy="640080"/>
          </a:xfrm>
          <a:prstGeom prst="rect">
            <a:avLst/>
          </a:prstGeom>
          <a:solidFill>
            <a:srgbClr val="F2F3E3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663440" y="1353312"/>
            <a:ext cx="73152" cy="64008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91456" y="1353312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97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797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120640" y="139903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120640" y="167335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Objectives + opportunities and activity ideas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2103120"/>
            <a:ext cx="4114800" cy="640080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11480" y="2103120"/>
            <a:ext cx="73152" cy="64008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39496" y="210312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68680" y="21488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Transformative education principles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68680" y="242316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Principles as a design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63440" y="2103120"/>
            <a:ext cx="4114800" cy="640080"/>
          </a:xfrm>
          <a:prstGeom prst="rect">
            <a:avLst/>
          </a:prstGeom>
          <a:solidFill>
            <a:srgbClr val="F2F3E3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663440" y="2103120"/>
            <a:ext cx="73152" cy="64008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791456" y="2103120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120640" y="21488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Course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120640" y="242316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Session-by-session plan (50 blocks)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11480" y="2852928"/>
            <a:ext cx="4114800" cy="640080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11480" y="2852928"/>
            <a:ext cx="73152" cy="64008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39496" y="2852928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97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797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68680" y="28986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Pre-delivery reflection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68680" y="317296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Honest self-assessment before you begin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63440" y="2852928"/>
            <a:ext cx="4114800" cy="640080"/>
          </a:xfrm>
          <a:prstGeom prst="rect">
            <a:avLst/>
          </a:prstGeom>
          <a:solidFill>
            <a:srgbClr val="F2F3E3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63440" y="2852928"/>
            <a:ext cx="73152" cy="64008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791456" y="2852928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120640" y="289864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Design 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120640" y="317296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Requirements, objectives, principles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11480" y="3602736"/>
            <a:ext cx="8321040" cy="640080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11480" y="3602736"/>
            <a:ext cx="73152" cy="640080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39496" y="3602736"/>
            <a:ext cx="274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3648456"/>
            <a:ext cx="7726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Post-delivery reflection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68680" y="3922776"/>
            <a:ext cx="7726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Reflecting on impact after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Sections 2, 3, and 4 work together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11480" y="886968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These three sections are designed to be used together. Move freely between them — ideas from one will feed the others.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11480" y="1417320"/>
            <a:ext cx="2651760" cy="246888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02920" y="2267712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" y="2779776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Objectives + activity ideas + progress indicators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246120" y="1417320"/>
            <a:ext cx="2651760" cy="246888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4612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337560" y="2267712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Transformative principles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337560" y="2779776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Principles as a source of activity ideas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080760" y="1417320"/>
            <a:ext cx="2651760" cy="246888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080760" y="15087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172200" y="2267712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172200" y="2779776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Session-by-session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072384" y="2423160"/>
            <a:ext cx="201168" cy="182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026664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907024" y="2423160"/>
            <a:ext cx="201168" cy="182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861304" y="2286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409651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As you work on your session plan, return to the objectives and principles tables — and vice versa.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0" y="-731520"/>
            <a:ext cx="45720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1000"/>
              <a:buFont typeface="Calibri"/>
              <a:buNone/>
            </a:pPr>
            <a:r>
              <a:rPr b="1" i="0" lang="en-US" sz="210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57200" y="118872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Welcome and orientation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24688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Sharing learner contexts · Working through your course objectives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What we will do in Session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0:00–0:30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609344" y="914400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737360" y="96926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Welcome and refresher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737360" y="124358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Overview of the training and planner. Brief refresher on Amala's model — agency for positive change and the nine transformative education principles.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0:30–0:55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609344" y="1719072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737360" y="17739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Sharing context and learners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737360" y="204825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You will share 2–3 things about your learners and context from Section 1 with the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11480" y="2523744"/>
            <a:ext cx="1143000" cy="438912"/>
          </a:xfrm>
          <a:prstGeom prst="rect">
            <a:avLst/>
          </a:prstGeom>
          <a:solidFill>
            <a:srgbClr val="97999B"/>
          </a:solidFill>
          <a:ln cap="flat" cmpd="sng" w="12700">
            <a:solidFill>
              <a:srgbClr val="9799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11480" y="2523744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0:55–1:05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1:05–1:40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609344" y="3328416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737360" y="33832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Working through your objectives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737360" y="365760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In pairs or small groups, you will share your objectives and brainstorm opportunities and activity ideas together.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1:40–2:00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609344" y="4133088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737360" y="4187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Share-back and session close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737360" y="44622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is emerging across the group? Brief for your independent work before Session 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Amala's model — agency for positive change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1  ·  Refresher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11480" y="8869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An education has been transformative when a student develops agency for positive change — the capacity to make informed, intentional, and impactful decisions that improve their own life and contribute to positive change in the wider community.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1664208"/>
            <a:ext cx="2651760" cy="2578608"/>
          </a:xfrm>
          <a:prstGeom prst="rect">
            <a:avLst/>
          </a:prstGeom>
          <a:solidFill>
            <a:srgbClr val="003D6B"/>
          </a:solidFill>
          <a:ln cap="flat" cmpd="sng" w="1015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399032" y="1801368"/>
            <a:ext cx="658368" cy="658368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032" y="180136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411480" y="2560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Making impactful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contributions to community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3154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Learners take actions that create real positive change beyond the classroom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291840" y="1664208"/>
            <a:ext cx="2651760" cy="2578608"/>
          </a:xfrm>
          <a:prstGeom prst="rect">
            <a:avLst/>
          </a:prstGeom>
          <a:solidFill>
            <a:srgbClr val="003D6B"/>
          </a:solidFill>
          <a:ln cap="flat" cmpd="sng" w="1015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279392" y="1801368"/>
            <a:ext cx="658368" cy="658368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9392" y="180136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3291840" y="2560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Control of and access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future pathways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383280" y="3154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Greater access to education, work, or entrepreneurship — and confidence to pursue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172200" y="1664208"/>
            <a:ext cx="2651760" cy="2578608"/>
          </a:xfrm>
          <a:prstGeom prst="rect">
            <a:avLst/>
          </a:prstGeom>
          <a:solidFill>
            <a:srgbClr val="003D6B"/>
          </a:solidFill>
          <a:ln cap="flat" cmpd="sng" w="1015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159752" y="1801368"/>
            <a:ext cx="658368" cy="658368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2" name="Google Shape;2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9752" y="180136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6172200" y="25603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Power 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wellbeing and self-direction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263640" y="3154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More informed, intentional decisions about their own lives and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11480" y="200000"/>
            <a:ext cx="832104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Amala’s nine transformative education principles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11480" y="840000"/>
            <a:ext cx="5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7999B"/>
                </a:solidFill>
                <a:latin typeface="Lato"/>
                <a:ea typeface="Lato"/>
                <a:cs typeface="Lato"/>
                <a:sym typeface="Lato"/>
              </a:rPr>
              <a:t>Session 1  ·  Refresher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11480" y="1140000"/>
            <a:ext cx="8321040" cy="3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1.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builds on learners’ identities, experiences, and communities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2.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is shaped through collaboration with and between learners, educators, and communities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3.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develops lifeworthy competencies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4.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Learners engage with authentic challenges that create impact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5.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promotes responsible, values-driven action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6.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Learners recognise and communicate their own growth and impact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7.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Learners connect their learning to the futures they are building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8.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is shaped by ongoing feedback and data</a:t>
            </a:r>
            <a:endParaRPr/>
          </a:p>
          <a:p>
            <a:pPr indent="-384048" lvl="0" marL="384048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9.  </a:t>
            </a:r>
            <a:r>
              <a:rPr b="0" i="0" lang="en-US" sz="1300" u="none" cap="none" strike="noStrike">
                <a:solidFill>
                  <a:srgbClr val="041E42"/>
                </a:solidFill>
                <a:latin typeface="Lato"/>
                <a:ea typeface="Lato"/>
                <a:cs typeface="Lato"/>
                <a:sym typeface="Lato"/>
              </a:rPr>
              <a:t>Learning spaces support wellbeing, belonging, and growth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Sharing context and learners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1  ·  0:30–0:55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11480" y="1298448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Share 2–3 things about your learners and context from Section 1 of your planner. Be specific — the more concrete you are, the more useful this will be for everyone.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11480" y="2057400"/>
            <a:ext cx="347472" cy="347472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11480" y="20574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96112" y="187452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is one thing about your learners that most shapes how you will design this course?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11480" y="2907792"/>
            <a:ext cx="347472" cy="347472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11480" y="2907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96112" y="2724912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does 'positive change' mean in your specific context — and how does it shape what you want the course to achieve?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1480" y="3758184"/>
            <a:ext cx="347472" cy="347472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11480" y="37581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896112" y="3575304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is one constraint you are working with that others might not have considered?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11480" y="4507992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After everyone has shared: what common threads are you noticing? What surprised you?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Working through your course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1  ·  1:05–1:40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435608" y="932688"/>
            <a:ext cx="1830629" cy="256032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435608" y="932688"/>
            <a:ext cx="183062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PAIRS OR SMALL GROUPS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11480" y="1298448"/>
            <a:ext cx="8321040" cy="82296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02920" y="1536192"/>
            <a:ext cx="347472" cy="347472"/>
          </a:xfrm>
          <a:prstGeom prst="ellipse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02920" y="15361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987552" y="137160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Step 10 min — individual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987552" y="166420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Write your objective statements into Section 2 of your planner and do some initial brainstorming for the first objective.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11480" y="2258568"/>
            <a:ext cx="83210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02920" y="2496312"/>
            <a:ext cx="347472" cy="347472"/>
          </a:xfrm>
          <a:prstGeom prst="ellipse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02920" y="2496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987552" y="233172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Step 20 min — in pairs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87552" y="262432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Share each objective. Together, brainstorm opportunities and activity ideas — write them directly into your planner as they come. Do not filter.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11480" y="3218688"/>
            <a:ext cx="8321040" cy="822960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02920" y="3456432"/>
            <a:ext cx="347472" cy="347472"/>
          </a:xfrm>
          <a:prstGeom prst="ellipse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02920" y="34564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987552" y="3291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Step 5 min — share 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87552" y="358444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Share one interesting or unexpected idea with the whole group.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11480" y="4206240"/>
            <a:ext cx="8321040" cy="621792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48640" y="4206240"/>
            <a:ext cx="8046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question: how will I know if a learner is making progress towards this objective — what might I see them doing, saying, or producing?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Between sessions — Independent Work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1  ·  Close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11480" y="886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~2 hours  ·  Before Session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11480" y="1298448"/>
            <a:ext cx="8321040" cy="1325880"/>
          </a:xfrm>
          <a:prstGeom prst="rect">
            <a:avLst/>
          </a:prstGeom>
          <a:solidFill>
            <a:srgbClr val="FFFFFF">
              <a:alpha val="92941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13898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Task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481328" y="1389888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Complete Section 3 — transformative education principles</a:t>
            </a:r>
            <a:endParaRPr b="0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543800" y="138988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~45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94360" y="1773936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 each of the nine principles, generate opportunities and activity ideas for your specific context. Treat it as a brainstorm — there are no wrong answers.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11480" y="2761488"/>
            <a:ext cx="8321040" cy="1325880"/>
          </a:xfrm>
          <a:prstGeom prst="rect">
            <a:avLst/>
          </a:prstGeom>
          <a:solidFill>
            <a:srgbClr val="FFFFFF">
              <a:alpha val="92941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48640" y="285292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Task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481328" y="2852928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Begin Section 4 — plan the first 5 hours of your course</a:t>
            </a:r>
            <a:endParaRPr b="0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543800" y="285292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~1 hr 15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94360" y="3236976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Plan at least 5 hours before Session 2. As ideas develop, move back into Sections 2 and 3 freely. The first few hours set the tone — think about how you will build safety and surface learner knowledge.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11480" y="4334256"/>
            <a:ext cx="8321040" cy="329184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02920" y="4334256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 your Course Planning Guide via Google Classroom before Session 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029200" y="-731520"/>
            <a:ext cx="45720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1000"/>
              <a:buFont typeface="Calibri"/>
              <a:buNone/>
            </a:pPr>
            <a:r>
              <a:rPr b="1" i="0" lang="en-US" sz="210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57200" y="118872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Principles, peer feedback, and revision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24688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Sharing principle-led ideas · Peer feedback on your first 5 hours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2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What we will do in Session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3" name="Google Shape;3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0:00–0:10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609344" y="914400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737360" y="96926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Check-in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737360" y="1252728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How did the independent work go? Any questions before we start?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0:10–0:35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1609344" y="1719072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737360" y="17739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Section 3 share-out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1737360" y="205740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Share your principle-led ideas in pairs. Which principle was most generative? Which was hardest to apply?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11480" y="2523744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11480" y="2523744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0:35–1:20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609344" y="2523744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737360" y="2578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Peer feedback — first 5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737360" y="28620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Structured peer feedback on your first 5 hours of planning using the protocol on the next slide.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1:20–1:40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609344" y="3328416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737360" y="33832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Revision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737360" y="366674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Update your plan based on the feedback you have received.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1:40–2:00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609344" y="4133088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737360" y="4187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Session close and brief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737360" y="447141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to complete before Session 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Section 3 share-out — principles in your context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8" name="Google Shape;3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2  ·  0:10–0:35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435608" y="932688"/>
            <a:ext cx="1905610" cy="256032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435608" y="932688"/>
            <a:ext cx="190561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PAIRS THEN WHOLE GROUP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11480" y="13258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In pairs (10 min), share: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411480" y="1783080"/>
            <a:ext cx="347472" cy="347472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1148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86968" y="173736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Which principle generated the most ideas for your context — and what were they?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11480" y="2606040"/>
            <a:ext cx="347472" cy="347472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11480" y="2606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86968" y="256032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Which principle was hardest to apply in your context — and what is your plan?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11480" y="297180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Whole group (15 min) — each pair shares one thing: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411480" y="3346704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Which principle felt most alive in your context? Which felt most out of reach?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Peer feedback protocol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2 &amp; 3  ·  Feedback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11480" y="88696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Use this protocol in Sessions 2 and 3. Allow about 20 minutes per person in pairs.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11480" y="1325880"/>
            <a:ext cx="365760" cy="54864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11480" y="132588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868680" y="135331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Presenter shares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429000" y="13533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868680" y="1609344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Walk through your plan. Partner listens and takes notes — no interruptions yet.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11480" y="1984248"/>
            <a:ext cx="365760" cy="54864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11480" y="198424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868680" y="20116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Clarifying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3429000" y="20116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68680" y="226771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Listener asks genuine questions to understand the plan better. Questions only — no suggestions yet.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11480" y="2642616"/>
            <a:ext cx="365760" cy="54864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11480" y="2642616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68680" y="267004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Warm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3429000" y="26700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868680" y="29260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is strong — specifically? Reference the course objectives or principles. Not just 'looks great.'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11480" y="3300984"/>
            <a:ext cx="365760" cy="54864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11480" y="3300984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868680" y="332841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Cool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3429000" y="332841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868680" y="358444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One or two questions or possibilities that might strengthen the plan. Framed as 'I wonder…' not corrections.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11480" y="3959352"/>
            <a:ext cx="365760" cy="54864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11480" y="3959352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868680" y="398678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97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797A8"/>
                </a:solidFill>
                <a:latin typeface="Calibri"/>
                <a:ea typeface="Calibri"/>
                <a:cs typeface="Calibri"/>
                <a:sym typeface="Calibri"/>
              </a:rPr>
              <a:t>Presenter reflects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3429000" y="398678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868680" y="4242816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What resonated? What will you take away? No need to justify your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Warm feedback is specific and evidenced. Cool feedback is framed as possibilities, not corrections.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Between sessions — Independent Work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6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2  ·  Close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411480" y="886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~3 hours  ·  Before Session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11480" y="1298448"/>
            <a:ext cx="8321040" cy="1325880"/>
          </a:xfrm>
          <a:prstGeom prst="rect">
            <a:avLst/>
          </a:prstGeom>
          <a:solidFill>
            <a:srgbClr val="FFFFFF">
              <a:alpha val="92941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48640" y="13898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Task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481328" y="1389888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Complete Section 4 — plan hours 6–10</a:t>
            </a:r>
            <a:endParaRPr b="0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7543800" y="138988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~2 hrs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594360" y="1773936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Apply the feedback you received today. Check: which objectives appear across the 10 hours? Which principles are visible in how you have designed activities?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11480" y="2761488"/>
            <a:ext cx="8321040" cy="1325880"/>
          </a:xfrm>
          <a:prstGeom prst="rect">
            <a:avLst/>
          </a:prstGeom>
          <a:solidFill>
            <a:srgbClr val="FFFFFF">
              <a:alpha val="92941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548640" y="285292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Task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481328" y="2852928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Complete Section 5 — pre-delivery reflection</a:t>
            </a:r>
            <a:endParaRPr b="0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7543800" y="285292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~1 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94360" y="3236976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Answer all six reflection questions honestly. Come to Session 3 ready to share one thing you are proud of and one thing that still feels uncertain.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11480" y="4334256"/>
            <a:ext cx="8321040" cy="329184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502920" y="4334256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 your Course Planning Guide via Google Classroom before Session 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5029200" y="-731520"/>
            <a:ext cx="45720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1000"/>
              <a:buFont typeface="Calibri"/>
              <a:buNone/>
            </a:pPr>
            <a:r>
              <a:rPr b="1" i="0" lang="en-US" sz="210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" y="777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57200" y="118872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 plan feedback and close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457200" y="24688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Peer feedback on your 10-hour plan · Checklist · Celebrate and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457200" y="32461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Designing and Facilitating Group-Based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What we will do in Session 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5" name="Google Shape;4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8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11480" y="914400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0:00–0:10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609344" y="914400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737360" y="96926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Check-in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737360" y="1252728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How are you feeling about your plan?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411480" y="1719072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0:10–0:55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609344" y="1719072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737360" y="17739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Peer feedback — full 10-hour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1737360" y="205740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Same protocol as Session 2. As a listener, also consider the plan as a whole.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411480" y="2523744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411480" y="2523744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0:55–1:15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609344" y="2523744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1737360" y="25786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Revision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1737360" y="286207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Update your plan based on the feedback you have received.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411480" y="3328416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1:15–1:35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1609344" y="3328416"/>
            <a:ext cx="7123176" cy="6949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737360" y="33832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Section 6 checklist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737360" y="366674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Work through the checklist independently, then share what you can tick and what still needs attention.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411480" y="4133088"/>
            <a:ext cx="11430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1:35–2:00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1609344" y="4133088"/>
            <a:ext cx="7123176" cy="694944"/>
          </a:xfrm>
          <a:prstGeom prst="rect">
            <a:avLst/>
          </a:prstGeom>
          <a:solidFill>
            <a:srgbClr val="EEF4FA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737360" y="4187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rPr>
              <a:t>Closing round and 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1737360" y="447141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One thing you are proud of. Your single next step. After the 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Peer feedback — your full 10-hour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9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3  ·  0:10–0:55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11480" y="129844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Same protocol as Session 2. As a listener, also consider the plan as a whole: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411480" y="1920240"/>
            <a:ext cx="347472" cy="54864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411480" y="192024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886968" y="178308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Where do you see the transformative education principles most alive across the 10 hours?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411480" y="2788920"/>
            <a:ext cx="347472" cy="54864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11480" y="278892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886968" y="265176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Is the arc coherent — does it build logically towards the course objectives?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11480" y="3657600"/>
            <a:ext cx="347472" cy="54864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411480" y="3657600"/>
            <a:ext cx="347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886968" y="352044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Is there anything missing from the first 10 hours that will make the rest of the course harder to deliver?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Course design checklist — Section 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2" name="Google Shape;5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0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3  ·  1:15–1:35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411480" y="88696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Work through the checklist in your planner. What can you tick? What still needs attention?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411480" y="1316736"/>
            <a:ext cx="1920240" cy="868680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457200" y="1316736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2377440" y="1316736"/>
            <a:ext cx="6355080" cy="868680"/>
          </a:xfrm>
          <a:prstGeom prst="rect">
            <a:avLst/>
          </a:prstGeom>
          <a:solidFill>
            <a:srgbClr val="F5F4F0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2514600" y="1316736"/>
            <a:ext cx="6080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100 hrs structured learning  ·  Minimum 10 weeks  ·  Facilitated + independent sessions  ·  Contextualised and accessible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411480" y="2313432"/>
            <a:ext cx="1920240" cy="868680"/>
          </a:xfrm>
          <a:prstGeom prst="rect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457200" y="2313432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2377440" y="2313432"/>
            <a:ext cx="6355080" cy="868680"/>
          </a:xfrm>
          <a:prstGeom prst="rect">
            <a:avLst/>
          </a:prstGeom>
          <a:solidFill>
            <a:srgbClr val="F5F4F0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2514600" y="2313432"/>
            <a:ext cx="6080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All objectives in the session plan  ·  Sufficient time for each  ·  Progress indicators identified for each objective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11480" y="3310128"/>
            <a:ext cx="1920240" cy="86868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457200" y="3310128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Transformative education principles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2377440" y="3310128"/>
            <a:ext cx="6355080" cy="868680"/>
          </a:xfrm>
          <a:prstGeom prst="rect">
            <a:avLst/>
          </a:prstGeom>
          <a:solidFill>
            <a:srgbClr val="F5F4F0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2514600" y="3310128"/>
            <a:ext cx="6080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Learner identities central  ·  Collaboration  ·  Lifeworthy competencies  ·  Authentic challenges  ·  Responsible action  ·  Growth recognised  ·  Futures connected  ·  Feedback and data  ·  Wellbeing and belonging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The goal is not to have everything ticked before you leave — it is to have an honest picture of where you are and what comes next.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Closing round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6" name="Google Shape;5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1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3  ·  1:35–2:00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411480" y="886968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D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8CDD8"/>
                </a:solidFill>
                <a:latin typeface="Calibri"/>
                <a:ea typeface="Calibri"/>
                <a:cs typeface="Calibri"/>
                <a:sym typeface="Calibri"/>
              </a:rPr>
              <a:t>Round the group with two questions: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411480" y="1371600"/>
            <a:ext cx="8321040" cy="1280160"/>
          </a:xfrm>
          <a:prstGeom prst="rect">
            <a:avLst/>
          </a:prstGeom>
          <a:solidFill>
            <a:srgbClr val="003D6B"/>
          </a:solidFill>
          <a:ln cap="flat" cmpd="sng" w="1015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594360" y="1773936"/>
            <a:ext cx="493776" cy="493776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1" name="Google Shape;5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" y="177393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1"/>
          <p:cNvSpPr/>
          <p:nvPr/>
        </p:nvSpPr>
        <p:spPr>
          <a:xfrm>
            <a:off x="1234440" y="1572768"/>
            <a:ext cx="7223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one thing you are proud of in the plan you have built?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411480" y="2880360"/>
            <a:ext cx="8321040" cy="1280160"/>
          </a:xfrm>
          <a:prstGeom prst="rect">
            <a:avLst/>
          </a:prstGeom>
          <a:solidFill>
            <a:srgbClr val="003D6B"/>
          </a:solidFill>
          <a:ln cap="flat" cmpd="sng" w="1015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594360" y="3282696"/>
            <a:ext cx="493776" cy="493776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5" name="Google Shape;5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328269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21"/>
          <p:cNvSpPr/>
          <p:nvPr/>
        </p:nvSpPr>
        <p:spPr>
          <a:xfrm>
            <a:off x="1234440" y="3081528"/>
            <a:ext cx="7223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your single most important next step — and when will you do it?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200"/>
              <a:buFont typeface="Roboto"/>
              <a:buNone/>
            </a:pPr>
            <a:r>
              <a:rPr b="1" i="0" lang="en-US" sz="2200" u="none" cap="none" strike="noStrike">
                <a:solidFill>
                  <a:srgbClr val="004976"/>
                </a:solidFill>
                <a:latin typeface="Roboto"/>
                <a:ea typeface="Roboto"/>
                <a:cs typeface="Roboto"/>
                <a:sym typeface="Roboto"/>
              </a:rPr>
              <a:t>After the training — your planner is a living document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411480" y="758952"/>
            <a:ext cx="8321040" cy="274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4764024"/>
            <a:ext cx="86868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2"/>
          <p:cNvSpPr/>
          <p:nvPr/>
        </p:nvSpPr>
        <p:spPr>
          <a:xfrm>
            <a:off x="4572000" y="4764024"/>
            <a:ext cx="4297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7999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7999B"/>
                </a:solidFill>
                <a:latin typeface="Calibri"/>
                <a:ea typeface="Calibri"/>
                <a:cs typeface="Calibri"/>
                <a:sym typeface="Calibri"/>
              </a:rPr>
              <a:t>Session 3  ·  Close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411480" y="914400"/>
            <a:ext cx="8321040" cy="768096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0698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2"/>
          <p:cNvSpPr/>
          <p:nvPr/>
        </p:nvSpPr>
        <p:spPr>
          <a:xfrm>
            <a:off x="1078992" y="914400"/>
            <a:ext cx="7498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Continue Section 4 — plan the remaining sessions up to 100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11480" y="1801368"/>
            <a:ext cx="8321040" cy="768096"/>
          </a:xfrm>
          <a:prstGeom prst="rect">
            <a:avLst/>
          </a:prstGeom>
          <a:solidFill>
            <a:srgbClr val="F2F3E3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502920" y="1956816"/>
            <a:ext cx="457200" cy="457200"/>
          </a:xfrm>
          <a:prstGeom prst="ellipse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3" name="Google Shape;5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9568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2"/>
          <p:cNvSpPr/>
          <p:nvPr/>
        </p:nvSpPr>
        <p:spPr>
          <a:xfrm>
            <a:off x="1078992" y="1801368"/>
            <a:ext cx="7498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Return to Sections 2 and 3 as your thinking develops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411480" y="2688336"/>
            <a:ext cx="8321040" cy="768096"/>
          </a:xfrm>
          <a:prstGeom prst="rect">
            <a:avLst/>
          </a:prstGeom>
          <a:solidFill>
            <a:srgbClr val="E8EFF5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502920" y="2843784"/>
            <a:ext cx="457200" cy="457200"/>
          </a:xfrm>
          <a:prstGeom prst="ellipse">
            <a:avLst/>
          </a:prstGeom>
          <a:solidFill>
            <a:srgbClr val="4797A8"/>
          </a:solidFill>
          <a:ln cap="flat" cmpd="sng" w="12700">
            <a:solidFill>
              <a:srgbClr val="479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2843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2"/>
          <p:cNvSpPr/>
          <p:nvPr/>
        </p:nvSpPr>
        <p:spPr>
          <a:xfrm>
            <a:off x="1078992" y="2688336"/>
            <a:ext cx="7498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Use Section 7 during or after your first delivery to reflect and improve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411480" y="3575304"/>
            <a:ext cx="8321040" cy="768096"/>
          </a:xfrm>
          <a:prstGeom prst="rect">
            <a:avLst/>
          </a:prstGeom>
          <a:solidFill>
            <a:srgbClr val="F2F3E3"/>
          </a:solidFill>
          <a:ln cap="flat" cmpd="sng" w="9525">
            <a:solidFill>
              <a:srgbClr val="D0D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502920" y="3730752"/>
            <a:ext cx="457200" cy="457200"/>
          </a:xfrm>
          <a:prstGeom prst="ellipse">
            <a:avLst/>
          </a:prstGeom>
          <a:solidFill>
            <a:srgbClr val="004976"/>
          </a:solidFill>
          <a:ln cap="flat" cmpd="sng" w="12700">
            <a:solidFill>
              <a:srgbClr val="00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37307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2"/>
          <p:cNvSpPr/>
          <p:nvPr/>
        </p:nvSpPr>
        <p:spPr>
          <a:xfrm>
            <a:off x="1078992" y="3575304"/>
            <a:ext cx="74980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E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41E42"/>
                </a:solidFill>
                <a:latin typeface="Calibri"/>
                <a:ea typeface="Calibri"/>
                <a:cs typeface="Calibri"/>
                <a:sym typeface="Calibri"/>
              </a:rPr>
              <a:t>Keep talking to each other — the peer connections from this training are a resource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411480" y="4517136"/>
            <a:ext cx="8321040" cy="34747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502920" y="4517136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7 of your planner is there when you are ready to reflect on delivery — return to update the whole document after your first course.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76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003D6B"/>
          </a:solidFill>
          <a:ln cap="flat" cmpd="sng" w="12700">
            <a:solidFill>
              <a:srgbClr val="00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00200"/>
            <a:ext cx="2011680" cy="66751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3"/>
          <p:cNvSpPr/>
          <p:nvPr/>
        </p:nvSpPr>
        <p:spPr>
          <a:xfrm>
            <a:off x="457200" y="2331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993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F993E"/>
                </a:solidFill>
                <a:latin typeface="Calibri"/>
                <a:ea typeface="Calibri"/>
                <a:cs typeface="Calibri"/>
                <a:sym typeface="Calibri"/>
              </a:rPr>
              <a:t>Education for Change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457200" y="292608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B8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2B8CC"/>
                </a:solidFill>
                <a:latin typeface="Calibri"/>
                <a:ea typeface="Calibri"/>
                <a:cs typeface="Calibri"/>
                <a:sym typeface="Calibri"/>
              </a:rPr>
              <a:t>amala.org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F993E"/>
          </a:solidFill>
          <a:ln cap="flat" cmpd="sng" w="12700">
            <a:solidFill>
              <a:srgbClr val="8F99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Amala Designing and Facilitating Group-Based Learning  ·  Session Slides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2026-04-10T03:18:31Z</dcterms:created>
  <dc:creator>PptxGenJS</dc:creator>
</cp:coreProperties>
</file>