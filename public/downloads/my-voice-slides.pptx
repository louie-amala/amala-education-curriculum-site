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72865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7A3B69"/>
                </a:solidFill>
                <a:latin typeface="Calibri"/>
              </a:rPr>
              <a:t>Learning Bridge+  ·  Cox's Bazar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651760"/>
            <a:ext cx="10728655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 b="1">
                <a:solidFill>
                  <a:srgbClr val="1F3A5F"/>
                </a:solidFill>
                <a:latin typeface="Calibri"/>
              </a:rPr>
              <a:t>My Voice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297680"/>
            <a:ext cx="10728655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0">
                <a:solidFill>
                  <a:srgbClr val="5A6473"/>
                </a:solidFill>
                <a:latin typeface="Calibri"/>
              </a:rPr>
              <a:t>Session slides — say who you are, in English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>
                <a:solidFill>
                  <a:srgbClr val="7A3B69"/>
                </a:solidFill>
                <a:latin typeface="Calibri"/>
              </a:rPr>
              <a:t>Welcome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728655" cy="2377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>
                <a:solidFill>
                  <a:srgbClr val="1F3A5F"/>
                </a:solidFill>
                <a:latin typeface="Calibri"/>
              </a:rPr>
              <a:t>Hello.</a:t>
            </a:r>
          </a:p>
          <a:p>
            <a:pPr algn="ctr"/>
            <a:r>
              <a:rPr sz="5400" b="1">
                <a:solidFill>
                  <a:srgbClr val="1F3A5F"/>
                </a:solidFill>
                <a:latin typeface="Calibri"/>
              </a:rPr>
              <a:t>This is our space.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754880"/>
            <a:ext cx="10728655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0">
                <a:solidFill>
                  <a:srgbClr val="5A6473"/>
                </a:solidFill>
                <a:latin typeface="Calibri"/>
              </a:rPr>
              <a:t>Everyone here has a voice. We will find the English to say who we are.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>
                <a:solidFill>
                  <a:srgbClr val="7A3B69"/>
                </a:solidFill>
                <a:latin typeface="Calibri"/>
              </a:rPr>
              <a:t>Our classroom words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728655" cy="2377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>
                <a:solidFill>
                  <a:srgbClr val="1F3A5F"/>
                </a:solidFill>
                <a:latin typeface="Calibri"/>
              </a:rPr>
              <a:t>hello   ·   thank you</a:t>
            </a:r>
          </a:p>
          <a:p>
            <a:pPr algn="ctr"/>
            <a:r>
              <a:rPr sz="5400" b="1">
                <a:solidFill>
                  <a:srgbClr val="1F3A5F"/>
                </a:solidFill>
                <a:latin typeface="Calibri"/>
              </a:rPr>
              <a:t>please   ·   again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754880"/>
            <a:ext cx="10728655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0">
                <a:solidFill>
                  <a:srgbClr val="5A6473"/>
                </a:solidFill>
                <a:latin typeface="Calibri"/>
              </a:rPr>
              <a:t>Say them with me. Use them every day.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>
                <a:solidFill>
                  <a:srgbClr val="7A3B69"/>
                </a:solidFill>
                <a:latin typeface="Calibri"/>
              </a:rPr>
              <a:t>Listening: hello and names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728655" cy="2377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>
                <a:solidFill>
                  <a:srgbClr val="1F3A5F"/>
                </a:solidFill>
                <a:latin typeface="Calibri"/>
              </a:rPr>
              <a:t>Listen.</a:t>
            </a:r>
          </a:p>
          <a:p>
            <a:pPr algn="ctr"/>
            <a:r>
              <a:rPr sz="5400" b="1">
                <a:solidFill>
                  <a:srgbClr val="1F3A5F"/>
                </a:solidFill>
                <a:latin typeface="Calibri"/>
              </a:rPr>
              <a:t>Whose name do you hear?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754880"/>
            <a:ext cx="10728655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0">
                <a:solidFill>
                  <a:srgbClr val="5A6473"/>
                </a:solidFill>
                <a:latin typeface="Calibri"/>
              </a:rPr>
              <a:t>Point. Stand. Show me — no writing yet.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>
                <a:solidFill>
                  <a:srgbClr val="7A3B69"/>
                </a:solidFill>
                <a:latin typeface="Calibri"/>
              </a:rPr>
              <a:t>The alphabet and your name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728655" cy="2377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>
                <a:solidFill>
                  <a:srgbClr val="1F3A5F"/>
                </a:solidFill>
                <a:latin typeface="Calibri"/>
              </a:rPr>
              <a:t>What is the first</a:t>
            </a:r>
          </a:p>
          <a:p>
            <a:pPr algn="ctr"/>
            <a:r>
              <a:rPr sz="5400" b="1">
                <a:solidFill>
                  <a:srgbClr val="1F3A5F"/>
                </a:solidFill>
                <a:latin typeface="Calibri"/>
              </a:rPr>
              <a:t>sound of your name?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754880"/>
            <a:ext cx="10728655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0">
                <a:solidFill>
                  <a:srgbClr val="5A6473"/>
                </a:solidFill>
                <a:latin typeface="Calibri"/>
              </a:rPr>
              <a:t>Fatima — fff. Say your name, slowly.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>
                <a:solidFill>
                  <a:srgbClr val="7A3B69"/>
                </a:solidFill>
                <a:latin typeface="Calibri"/>
              </a:rPr>
              <a:t>Key sounds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728655" cy="2377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>
                <a:solidFill>
                  <a:srgbClr val="1F3A5F"/>
                </a:solidFill>
                <a:latin typeface="Calibri"/>
              </a:rPr>
              <a:t>a  o  u</a:t>
            </a:r>
          </a:p>
          <a:p>
            <a:pPr algn="ctr"/>
            <a:r>
              <a:rPr sz="5400" b="1">
                <a:solidFill>
                  <a:srgbClr val="1F3A5F"/>
                </a:solidFill>
                <a:latin typeface="Calibri"/>
              </a:rPr>
              <a:t>s  t  l  m  n</a:t>
            </a:r>
          </a:p>
          <a:p>
            <a:pPr algn="ctr"/>
            <a:r>
              <a:rPr sz="5400" b="1">
                <a:solidFill>
                  <a:srgbClr val="1F3A5F"/>
                </a:solidFill>
                <a:latin typeface="Calibri"/>
              </a:rPr>
              <a:t>p  t  k   ·   b  d  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754880"/>
            <a:ext cx="10728655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0">
                <a:solidFill>
                  <a:srgbClr val="5A6473"/>
                </a:solidFill>
                <a:latin typeface="Calibri"/>
              </a:rPr>
              <a:t>Say the sound, not the letter name.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>
                <a:solidFill>
                  <a:srgbClr val="7A3B69"/>
                </a:solidFill>
                <a:latin typeface="Calibri"/>
              </a:rPr>
              <a:t>Sound and letter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728655" cy="2377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>
                <a:solidFill>
                  <a:srgbClr val="1F3A5F"/>
                </a:solidFill>
                <a:latin typeface="Calibri"/>
              </a:rPr>
              <a:t>Listen… which sound?</a:t>
            </a:r>
          </a:p>
          <a:p>
            <a:pPr algn="ctr"/>
            <a:r>
              <a:rPr sz="5400" b="1">
                <a:solidFill>
                  <a:srgbClr val="1F3A5F"/>
                </a:solidFill>
                <a:latin typeface="Calibri"/>
              </a:rPr>
              <a:t>Build your word.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754880"/>
            <a:ext cx="10728655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0">
                <a:solidFill>
                  <a:srgbClr val="5A6473"/>
                </a:solidFill>
                <a:latin typeface="Calibri"/>
              </a:rPr>
              <a:t>Games. Play them again and again.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>
                <a:solidFill>
                  <a:srgbClr val="7A3B69"/>
                </a:solidFill>
                <a:latin typeface="Calibri"/>
              </a:rPr>
              <a:t>Words about 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728655" cy="2377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>
                <a:solidFill>
                  <a:srgbClr val="1F3A5F"/>
                </a:solidFill>
                <a:latin typeface="Calibri"/>
              </a:rPr>
              <a:t>my name · my family</a:t>
            </a:r>
          </a:p>
          <a:p>
            <a:pPr algn="ctr"/>
            <a:r>
              <a:rPr sz="5400" b="1">
                <a:solidFill>
                  <a:srgbClr val="1F3A5F"/>
                </a:solidFill>
                <a:latin typeface="Calibri"/>
              </a:rPr>
              <a:t>where I am from · what I like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754880"/>
            <a:ext cx="10728655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0">
                <a:solidFill>
                  <a:srgbClr val="5A6473"/>
                </a:solidFill>
                <a:latin typeface="Calibri"/>
              </a:rPr>
              <a:t>Draw it. Say it. You choose what to share.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>
                <a:solidFill>
                  <a:srgbClr val="7A3B69"/>
                </a:solidFill>
                <a:latin typeface="Calibri"/>
              </a:rPr>
              <a:t>Writing my name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728655" cy="2377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>
                <a:solidFill>
                  <a:srgbClr val="1F3A5F"/>
                </a:solidFill>
                <a:latin typeface="Calibri"/>
              </a:rPr>
              <a:t>I can write</a:t>
            </a:r>
          </a:p>
          <a:p>
            <a:pPr algn="ctr"/>
            <a:r>
              <a:rPr sz="5400" b="1">
                <a:solidFill>
                  <a:srgbClr val="1F3A5F"/>
                </a:solidFill>
                <a:latin typeface="Calibri"/>
              </a:rPr>
              <a:t>my name.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754880"/>
            <a:ext cx="10728655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0">
                <a:solidFill>
                  <a:srgbClr val="5A6473"/>
                </a:solidFill>
                <a:latin typeface="Calibri"/>
              </a:rPr>
              <a:t>Trace it. Again. It is yours.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7A3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>
                <a:solidFill>
                  <a:srgbClr val="7A3B69"/>
                </a:solidFill>
                <a:latin typeface="Calibri"/>
              </a:rPr>
              <a:t>I am…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728655" cy="2377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>
                <a:solidFill>
                  <a:srgbClr val="7A3B69"/>
                </a:solidFill>
                <a:latin typeface="Calibri"/>
              </a:rPr>
              <a:t>I am ______</a:t>
            </a:r>
          </a:p>
          <a:p>
            <a:pPr algn="ctr"/>
            <a:r>
              <a:rPr sz="5400" b="1">
                <a:solidFill>
                  <a:srgbClr val="7A3B69"/>
                </a:solidFill>
                <a:latin typeface="Calibri"/>
              </a:rPr>
              <a:t>I am from ______</a:t>
            </a:r>
          </a:p>
          <a:p>
            <a:pPr algn="ctr"/>
            <a:r>
              <a:rPr sz="5400" b="1">
                <a:solidFill>
                  <a:srgbClr val="7A3B69"/>
                </a:solidFill>
                <a:latin typeface="Calibri"/>
              </a:rPr>
              <a:t>I like ______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754880"/>
            <a:ext cx="10728655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0">
                <a:solidFill>
                  <a:srgbClr val="5A6473"/>
                </a:solidFill>
                <a:latin typeface="Calibri"/>
              </a:rPr>
              <a:t>Say a true sentence about you.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7A3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>
                <a:solidFill>
                  <a:srgbClr val="7A3B69"/>
                </a:solidFill>
                <a:latin typeface="Calibri"/>
              </a:rPr>
              <a:t>Sentence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728655" cy="2377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>
                <a:solidFill>
                  <a:srgbClr val="7A3B69"/>
                </a:solidFill>
                <a:latin typeface="Calibri"/>
              </a:rPr>
              <a:t>I  am</a:t>
            </a:r>
          </a:p>
          <a:p>
            <a:pPr algn="ctr"/>
            <a:r>
              <a:rPr sz="5400" b="1">
                <a:solidFill>
                  <a:srgbClr val="7A3B69"/>
                </a:solidFill>
                <a:latin typeface="Calibri"/>
              </a:rPr>
              <a:t>you / we / they  are</a:t>
            </a:r>
          </a:p>
          <a:p>
            <a:pPr algn="ctr"/>
            <a:r>
              <a:rPr sz="5400" b="1">
                <a:solidFill>
                  <a:srgbClr val="7A3B69"/>
                </a:solidFill>
                <a:latin typeface="Calibri"/>
              </a:rPr>
              <a:t>he / she / it  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754880"/>
            <a:ext cx="10728655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0">
                <a:solidFill>
                  <a:srgbClr val="5A6473"/>
                </a:solidFill>
                <a:latin typeface="Calibri"/>
              </a:rPr>
              <a:t>am, is, are — say it, build it.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7A3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>
                <a:solidFill>
                  <a:srgbClr val="7A3B69"/>
                </a:solidFill>
                <a:latin typeface="Calibri"/>
              </a:rPr>
              <a:t>Meeting people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728655" cy="2377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>
                <a:solidFill>
                  <a:srgbClr val="7A3B69"/>
                </a:solidFill>
                <a:latin typeface="Calibri"/>
              </a:rPr>
              <a:t>Hello. My name is ______.</a:t>
            </a:r>
          </a:p>
          <a:p>
            <a:pPr algn="ctr"/>
            <a:r>
              <a:rPr sz="5400" b="1">
                <a:solidFill>
                  <a:srgbClr val="7A3B69"/>
                </a:solidFill>
                <a:latin typeface="Calibri"/>
              </a:rPr>
              <a:t>What is your name?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754880"/>
            <a:ext cx="10728655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0">
                <a:solidFill>
                  <a:srgbClr val="5A6473"/>
                </a:solidFill>
                <a:latin typeface="Calibri"/>
              </a:rPr>
              <a:t>Greet someone. Introduce yourself.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>
                <a:solidFill>
                  <a:srgbClr val="7A3B69"/>
                </a:solidFill>
                <a:latin typeface="Calibri"/>
              </a:rPr>
              <a:t>Make your 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728655" cy="2377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>
                <a:solidFill>
                  <a:srgbClr val="1F3A5F"/>
                </a:solidFill>
                <a:latin typeface="Calibri"/>
              </a:rPr>
              <a:t>My Name,</a:t>
            </a:r>
          </a:p>
          <a:p>
            <a:pPr algn="ctr"/>
            <a:r>
              <a:rPr sz="5400" b="1">
                <a:solidFill>
                  <a:srgbClr val="1F3A5F"/>
                </a:solidFill>
                <a:latin typeface="Calibri"/>
              </a:rPr>
              <a:t>My Voice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754880"/>
            <a:ext cx="10728655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0">
                <a:solidFill>
                  <a:srgbClr val="5A6473"/>
                </a:solidFill>
                <a:latin typeface="Calibri"/>
              </a:rPr>
              <a:t>Your name, big. Draw and write what shows who you are.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>
                <a:solidFill>
                  <a:srgbClr val="7A3B69"/>
                </a:solidFill>
                <a:latin typeface="Calibri"/>
              </a:rPr>
              <a:t>Share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728655" cy="2377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>
                <a:solidFill>
                  <a:srgbClr val="1F3A5F"/>
                </a:solidFill>
                <a:latin typeface="Calibri"/>
              </a:rPr>
              <a:t>This is me.</a:t>
            </a:r>
          </a:p>
          <a:p>
            <a:pPr algn="ctr"/>
            <a:r>
              <a:rPr sz="5400" b="1">
                <a:solidFill>
                  <a:srgbClr val="1F3A5F"/>
                </a:solidFill>
                <a:latin typeface="Calibri"/>
              </a:rPr>
              <a:t>This is my voice.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754880"/>
            <a:ext cx="10728655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0">
                <a:solidFill>
                  <a:srgbClr val="5A6473"/>
                </a:solidFill>
                <a:latin typeface="Calibri"/>
              </a:rPr>
              <a:t>Show your card. We listen. We clap.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72865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7A3B69"/>
                </a:solidFill>
                <a:latin typeface="Calibri"/>
              </a:rPr>
              <a:t>Well done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651760"/>
            <a:ext cx="10728655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 b="1">
                <a:solidFill>
                  <a:srgbClr val="7A3B69"/>
                </a:solidFill>
                <a:latin typeface="Calibri"/>
              </a:rPr>
              <a:t>Look how your</a:t>
            </a:r>
          </a:p>
          <a:p>
            <a:pPr algn="ctr"/>
            <a:r>
              <a:rPr sz="6000" b="1">
                <a:solidFill>
                  <a:srgbClr val="7A3B69"/>
                </a:solidFill>
                <a:latin typeface="Calibri"/>
              </a:rPr>
              <a:t>voice has grown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297680"/>
            <a:ext cx="10728655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0">
                <a:solidFill>
                  <a:srgbClr val="5A6473"/>
                </a:solidFill>
                <a:latin typeface="Calibri"/>
              </a:rPr>
              <a:t>From no English to saying who you are.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